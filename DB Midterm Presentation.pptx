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8288000" cy="10287000"/>
  <p:notesSz cx="6858000" cy="9144000"/>
  <p:embeddedFontLst>
    <p:embeddedFont>
      <p:font typeface="League Spartan" charset="1" panose="00000800000000000000"/>
      <p:regular r:id="rId21"/>
    </p:embeddedFont>
    <p:embeddedFont>
      <p:font typeface="Nunito Italics" charset="1" panose="00000000000000000000"/>
      <p:regular r:id="rId22"/>
    </p:embeddedFont>
    <p:embeddedFont>
      <p:font typeface="Nunito Bold" charset="1" panose="00000000000000000000"/>
      <p:regular r:id="rId23"/>
    </p:embeddedFont>
    <p:embeddedFont>
      <p:font typeface="Nunito" charset="1" panose="00000000000000000000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730551" y="9500325"/>
            <a:ext cx="14057892" cy="3086100"/>
            <a:chOff x="0" y="0"/>
            <a:chExt cx="370249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702490" cy="812800"/>
            </a:xfrm>
            <a:custGeom>
              <a:avLst/>
              <a:gdLst/>
              <a:ahLst/>
              <a:cxnLst/>
              <a:rect r="r" b="b" t="t" l="l"/>
              <a:pathLst>
                <a:path h="812800" w="3702490">
                  <a:moveTo>
                    <a:pt x="0" y="0"/>
                  </a:moveTo>
                  <a:lnTo>
                    <a:pt x="3702490" y="0"/>
                  </a:lnTo>
                  <a:lnTo>
                    <a:pt x="370249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72A3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370249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true" flipV="false" rot="0">
            <a:off x="12729294" y="-96538"/>
            <a:ext cx="6401004" cy="10480075"/>
          </a:xfrm>
          <a:custGeom>
            <a:avLst/>
            <a:gdLst/>
            <a:ahLst/>
            <a:cxnLst/>
            <a:rect r="r" b="b" t="t" l="l"/>
            <a:pathLst>
              <a:path h="10480075" w="6401004">
                <a:moveTo>
                  <a:pt x="6401004" y="0"/>
                </a:moveTo>
                <a:lnTo>
                  <a:pt x="0" y="0"/>
                </a:lnTo>
                <a:lnTo>
                  <a:pt x="0" y="10480076"/>
                </a:lnTo>
                <a:lnTo>
                  <a:pt x="6401004" y="10480076"/>
                </a:lnTo>
                <a:lnTo>
                  <a:pt x="6401004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3022163"/>
            <a:ext cx="12879108" cy="34973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356"/>
              </a:lnSpc>
            </a:pPr>
            <a:r>
              <a:rPr lang="en-US" sz="6683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UNDERSTANDING LLM PROMPTING FOR RESPONSIBLE STUDENT USE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2028316" y="-1779621"/>
            <a:ext cx="4899588" cy="5162401"/>
          </a:xfrm>
          <a:custGeom>
            <a:avLst/>
            <a:gdLst/>
            <a:ahLst/>
            <a:cxnLst/>
            <a:rect r="r" b="b" t="t" l="l"/>
            <a:pathLst>
              <a:path h="5162401" w="4899588">
                <a:moveTo>
                  <a:pt x="0" y="0"/>
                </a:moveTo>
                <a:lnTo>
                  <a:pt x="4899589" y="0"/>
                </a:lnTo>
                <a:lnTo>
                  <a:pt x="4899589" y="5162402"/>
                </a:lnTo>
                <a:lnTo>
                  <a:pt x="0" y="516240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8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28700" y="6632423"/>
            <a:ext cx="11022391" cy="10653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94"/>
              </a:lnSpc>
            </a:pPr>
            <a:r>
              <a:rPr lang="en-US" sz="3067" i="true" spc="361">
                <a:solidFill>
                  <a:srgbClr val="000000"/>
                </a:solidFill>
                <a:latin typeface="Nunito Italics"/>
                <a:ea typeface="Nunito Italics"/>
                <a:cs typeface="Nunito Italics"/>
                <a:sym typeface="Nunito Italics"/>
              </a:rPr>
              <a:t>A Framework for Evaluating Prompt Sensitivity Through Algorithmic Tasks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-2876619" y="3753032"/>
            <a:ext cx="3905319" cy="4114800"/>
          </a:xfrm>
          <a:custGeom>
            <a:avLst/>
            <a:gdLst/>
            <a:ahLst/>
            <a:cxnLst/>
            <a:rect r="r" b="b" t="t" l="l"/>
            <a:pathLst>
              <a:path h="4114800" w="3905319">
                <a:moveTo>
                  <a:pt x="0" y="0"/>
                </a:moveTo>
                <a:lnTo>
                  <a:pt x="3905319" y="0"/>
                </a:lnTo>
                <a:lnTo>
                  <a:pt x="390531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8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028700" y="7867832"/>
            <a:ext cx="4674575" cy="55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22"/>
              </a:lnSpc>
            </a:pPr>
            <a:r>
              <a:rPr lang="en-US" sz="3685" b="true">
                <a:solidFill>
                  <a:srgbClr val="946C0A"/>
                </a:solidFill>
                <a:latin typeface="Nunito Bold"/>
                <a:ea typeface="Nunito Bold"/>
                <a:cs typeface="Nunito Bold"/>
                <a:sym typeface="Nunito Bold"/>
              </a:rPr>
              <a:t>Midterm 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-593852" y="-102688"/>
            <a:ext cx="6379111" cy="4114800"/>
          </a:xfrm>
          <a:custGeom>
            <a:avLst/>
            <a:gdLst/>
            <a:ahLst/>
            <a:cxnLst/>
            <a:rect r="r" b="b" t="t" l="l"/>
            <a:pathLst>
              <a:path h="4114800" w="6379111">
                <a:moveTo>
                  <a:pt x="0" y="4114800"/>
                </a:moveTo>
                <a:lnTo>
                  <a:pt x="6379112" y="4114800"/>
                </a:lnTo>
                <a:lnTo>
                  <a:pt x="6379112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1057540" y="4275936"/>
            <a:ext cx="5971931" cy="1390723"/>
            <a:chOff x="0" y="0"/>
            <a:chExt cx="1572854" cy="36628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572854" cy="366281"/>
            </a:xfrm>
            <a:custGeom>
              <a:avLst/>
              <a:gdLst/>
              <a:ahLst/>
              <a:cxnLst/>
              <a:rect r="r" b="b" t="t" l="l"/>
              <a:pathLst>
                <a:path h="366281" w="1572854">
                  <a:moveTo>
                    <a:pt x="66116" y="0"/>
                  </a:moveTo>
                  <a:lnTo>
                    <a:pt x="1506739" y="0"/>
                  </a:lnTo>
                  <a:cubicBezTo>
                    <a:pt x="1543253" y="0"/>
                    <a:pt x="1572854" y="29601"/>
                    <a:pt x="1572854" y="66116"/>
                  </a:cubicBezTo>
                  <a:lnTo>
                    <a:pt x="1572854" y="300165"/>
                  </a:lnTo>
                  <a:cubicBezTo>
                    <a:pt x="1572854" y="336680"/>
                    <a:pt x="1543253" y="366281"/>
                    <a:pt x="1506739" y="366281"/>
                  </a:cubicBezTo>
                  <a:lnTo>
                    <a:pt x="66116" y="366281"/>
                  </a:lnTo>
                  <a:cubicBezTo>
                    <a:pt x="29601" y="366281"/>
                    <a:pt x="0" y="336680"/>
                    <a:pt x="0" y="300165"/>
                  </a:cubicBezTo>
                  <a:lnTo>
                    <a:pt x="0" y="66116"/>
                  </a:lnTo>
                  <a:cubicBezTo>
                    <a:pt x="0" y="29601"/>
                    <a:pt x="29601" y="0"/>
                    <a:pt x="66116" y="0"/>
                  </a:cubicBezTo>
                  <a:close/>
                </a:path>
              </a:pathLst>
            </a:custGeom>
            <a:solidFill>
              <a:srgbClr val="607274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572854" cy="4043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1057540" y="6020571"/>
            <a:ext cx="5971931" cy="1390723"/>
            <a:chOff x="0" y="0"/>
            <a:chExt cx="1572854" cy="36628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572854" cy="366281"/>
            </a:xfrm>
            <a:custGeom>
              <a:avLst/>
              <a:gdLst/>
              <a:ahLst/>
              <a:cxnLst/>
              <a:rect r="r" b="b" t="t" l="l"/>
              <a:pathLst>
                <a:path h="366281" w="1572854">
                  <a:moveTo>
                    <a:pt x="66116" y="0"/>
                  </a:moveTo>
                  <a:lnTo>
                    <a:pt x="1506739" y="0"/>
                  </a:lnTo>
                  <a:cubicBezTo>
                    <a:pt x="1543253" y="0"/>
                    <a:pt x="1572854" y="29601"/>
                    <a:pt x="1572854" y="66116"/>
                  </a:cubicBezTo>
                  <a:lnTo>
                    <a:pt x="1572854" y="300165"/>
                  </a:lnTo>
                  <a:cubicBezTo>
                    <a:pt x="1572854" y="336680"/>
                    <a:pt x="1543253" y="366281"/>
                    <a:pt x="1506739" y="366281"/>
                  </a:cubicBezTo>
                  <a:lnTo>
                    <a:pt x="66116" y="366281"/>
                  </a:lnTo>
                  <a:cubicBezTo>
                    <a:pt x="29601" y="366281"/>
                    <a:pt x="0" y="336680"/>
                    <a:pt x="0" y="300165"/>
                  </a:cubicBezTo>
                  <a:lnTo>
                    <a:pt x="0" y="66116"/>
                  </a:lnTo>
                  <a:cubicBezTo>
                    <a:pt x="0" y="29601"/>
                    <a:pt x="29601" y="0"/>
                    <a:pt x="66116" y="0"/>
                  </a:cubicBezTo>
                  <a:close/>
                </a:path>
              </a:pathLst>
            </a:custGeom>
            <a:solidFill>
              <a:srgbClr val="607274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572854" cy="4043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1057540" y="7765205"/>
            <a:ext cx="5971931" cy="1390723"/>
            <a:chOff x="0" y="0"/>
            <a:chExt cx="1572854" cy="36628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572854" cy="366281"/>
            </a:xfrm>
            <a:custGeom>
              <a:avLst/>
              <a:gdLst/>
              <a:ahLst/>
              <a:cxnLst/>
              <a:rect r="r" b="b" t="t" l="l"/>
              <a:pathLst>
                <a:path h="366281" w="1572854">
                  <a:moveTo>
                    <a:pt x="66116" y="0"/>
                  </a:moveTo>
                  <a:lnTo>
                    <a:pt x="1506739" y="0"/>
                  </a:lnTo>
                  <a:cubicBezTo>
                    <a:pt x="1543253" y="0"/>
                    <a:pt x="1572854" y="29601"/>
                    <a:pt x="1572854" y="66116"/>
                  </a:cubicBezTo>
                  <a:lnTo>
                    <a:pt x="1572854" y="300165"/>
                  </a:lnTo>
                  <a:cubicBezTo>
                    <a:pt x="1572854" y="336680"/>
                    <a:pt x="1543253" y="366281"/>
                    <a:pt x="1506739" y="366281"/>
                  </a:cubicBezTo>
                  <a:lnTo>
                    <a:pt x="66116" y="366281"/>
                  </a:lnTo>
                  <a:cubicBezTo>
                    <a:pt x="29601" y="366281"/>
                    <a:pt x="0" y="336680"/>
                    <a:pt x="0" y="300165"/>
                  </a:cubicBezTo>
                  <a:lnTo>
                    <a:pt x="0" y="66116"/>
                  </a:lnTo>
                  <a:cubicBezTo>
                    <a:pt x="0" y="29601"/>
                    <a:pt x="29601" y="0"/>
                    <a:pt x="66116" y="0"/>
                  </a:cubicBezTo>
                  <a:close/>
                </a:path>
              </a:pathLst>
            </a:custGeom>
            <a:solidFill>
              <a:srgbClr val="607274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572854" cy="4043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3404068" y="4275936"/>
            <a:ext cx="5971931" cy="1390723"/>
            <a:chOff x="0" y="0"/>
            <a:chExt cx="1572854" cy="36628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572854" cy="366281"/>
            </a:xfrm>
            <a:custGeom>
              <a:avLst/>
              <a:gdLst/>
              <a:ahLst/>
              <a:cxnLst/>
              <a:rect r="r" b="b" t="t" l="l"/>
              <a:pathLst>
                <a:path h="366281" w="1572854">
                  <a:moveTo>
                    <a:pt x="66116" y="0"/>
                  </a:moveTo>
                  <a:lnTo>
                    <a:pt x="1506739" y="0"/>
                  </a:lnTo>
                  <a:cubicBezTo>
                    <a:pt x="1543253" y="0"/>
                    <a:pt x="1572854" y="29601"/>
                    <a:pt x="1572854" y="66116"/>
                  </a:cubicBezTo>
                  <a:lnTo>
                    <a:pt x="1572854" y="300165"/>
                  </a:lnTo>
                  <a:cubicBezTo>
                    <a:pt x="1572854" y="336680"/>
                    <a:pt x="1543253" y="366281"/>
                    <a:pt x="1506739" y="366281"/>
                  </a:cubicBezTo>
                  <a:lnTo>
                    <a:pt x="66116" y="366281"/>
                  </a:lnTo>
                  <a:cubicBezTo>
                    <a:pt x="29601" y="366281"/>
                    <a:pt x="0" y="336680"/>
                    <a:pt x="0" y="300165"/>
                  </a:cubicBezTo>
                  <a:lnTo>
                    <a:pt x="0" y="66116"/>
                  </a:lnTo>
                  <a:cubicBezTo>
                    <a:pt x="0" y="29601"/>
                    <a:pt x="29601" y="0"/>
                    <a:pt x="66116" y="0"/>
                  </a:cubicBezTo>
                  <a:close/>
                </a:path>
              </a:pathLst>
            </a:custGeom>
            <a:solidFill>
              <a:srgbClr val="607274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572854" cy="4043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3404068" y="6020571"/>
            <a:ext cx="5971931" cy="1390723"/>
            <a:chOff x="0" y="0"/>
            <a:chExt cx="1572854" cy="36628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572854" cy="366281"/>
            </a:xfrm>
            <a:custGeom>
              <a:avLst/>
              <a:gdLst/>
              <a:ahLst/>
              <a:cxnLst/>
              <a:rect r="r" b="b" t="t" l="l"/>
              <a:pathLst>
                <a:path h="366281" w="1572854">
                  <a:moveTo>
                    <a:pt x="66116" y="0"/>
                  </a:moveTo>
                  <a:lnTo>
                    <a:pt x="1506739" y="0"/>
                  </a:lnTo>
                  <a:cubicBezTo>
                    <a:pt x="1543253" y="0"/>
                    <a:pt x="1572854" y="29601"/>
                    <a:pt x="1572854" y="66116"/>
                  </a:cubicBezTo>
                  <a:lnTo>
                    <a:pt x="1572854" y="300165"/>
                  </a:lnTo>
                  <a:cubicBezTo>
                    <a:pt x="1572854" y="336680"/>
                    <a:pt x="1543253" y="366281"/>
                    <a:pt x="1506739" y="366281"/>
                  </a:cubicBezTo>
                  <a:lnTo>
                    <a:pt x="66116" y="366281"/>
                  </a:lnTo>
                  <a:cubicBezTo>
                    <a:pt x="29601" y="366281"/>
                    <a:pt x="0" y="336680"/>
                    <a:pt x="0" y="300165"/>
                  </a:cubicBezTo>
                  <a:lnTo>
                    <a:pt x="0" y="66116"/>
                  </a:lnTo>
                  <a:cubicBezTo>
                    <a:pt x="0" y="29601"/>
                    <a:pt x="29601" y="0"/>
                    <a:pt x="66116" y="0"/>
                  </a:cubicBezTo>
                  <a:close/>
                </a:path>
              </a:pathLst>
            </a:custGeom>
            <a:solidFill>
              <a:srgbClr val="607274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1572854" cy="4043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3404068" y="7765205"/>
            <a:ext cx="5971931" cy="1390723"/>
            <a:chOff x="0" y="0"/>
            <a:chExt cx="1572854" cy="36628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572854" cy="366281"/>
            </a:xfrm>
            <a:custGeom>
              <a:avLst/>
              <a:gdLst/>
              <a:ahLst/>
              <a:cxnLst/>
              <a:rect r="r" b="b" t="t" l="l"/>
              <a:pathLst>
                <a:path h="366281" w="1572854">
                  <a:moveTo>
                    <a:pt x="66116" y="0"/>
                  </a:moveTo>
                  <a:lnTo>
                    <a:pt x="1506739" y="0"/>
                  </a:lnTo>
                  <a:cubicBezTo>
                    <a:pt x="1543253" y="0"/>
                    <a:pt x="1572854" y="29601"/>
                    <a:pt x="1572854" y="66116"/>
                  </a:cubicBezTo>
                  <a:lnTo>
                    <a:pt x="1572854" y="300165"/>
                  </a:lnTo>
                  <a:cubicBezTo>
                    <a:pt x="1572854" y="336680"/>
                    <a:pt x="1543253" y="366281"/>
                    <a:pt x="1506739" y="366281"/>
                  </a:cubicBezTo>
                  <a:lnTo>
                    <a:pt x="66116" y="366281"/>
                  </a:lnTo>
                  <a:cubicBezTo>
                    <a:pt x="29601" y="366281"/>
                    <a:pt x="0" y="336680"/>
                    <a:pt x="0" y="300165"/>
                  </a:cubicBezTo>
                  <a:lnTo>
                    <a:pt x="0" y="66116"/>
                  </a:lnTo>
                  <a:cubicBezTo>
                    <a:pt x="0" y="29601"/>
                    <a:pt x="29601" y="0"/>
                    <a:pt x="66116" y="0"/>
                  </a:cubicBezTo>
                  <a:close/>
                </a:path>
              </a:pathLst>
            </a:custGeom>
            <a:solidFill>
              <a:srgbClr val="607274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1572854" cy="4043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2933861" y="4447380"/>
            <a:ext cx="1145927" cy="1047835"/>
            <a:chOff x="0" y="0"/>
            <a:chExt cx="846864" cy="774372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46864" cy="774372"/>
            </a:xfrm>
            <a:custGeom>
              <a:avLst/>
              <a:gdLst/>
              <a:ahLst/>
              <a:cxnLst/>
              <a:rect r="r" b="b" t="t" l="l"/>
              <a:pathLst>
                <a:path h="774372" w="846864">
                  <a:moveTo>
                    <a:pt x="423432" y="0"/>
                  </a:moveTo>
                  <a:cubicBezTo>
                    <a:pt x="189577" y="0"/>
                    <a:pt x="0" y="173349"/>
                    <a:pt x="0" y="387186"/>
                  </a:cubicBezTo>
                  <a:cubicBezTo>
                    <a:pt x="0" y="601023"/>
                    <a:pt x="189577" y="774372"/>
                    <a:pt x="423432" y="774372"/>
                  </a:cubicBezTo>
                  <a:cubicBezTo>
                    <a:pt x="657287" y="774372"/>
                    <a:pt x="846864" y="601023"/>
                    <a:pt x="846864" y="387186"/>
                  </a:cubicBezTo>
                  <a:cubicBezTo>
                    <a:pt x="846864" y="173349"/>
                    <a:pt x="657287" y="0"/>
                    <a:pt x="423432" y="0"/>
                  </a:cubicBezTo>
                  <a:close/>
                </a:path>
              </a:pathLst>
            </a:custGeom>
            <a:solidFill>
              <a:srgbClr val="FFD964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79394" y="34497"/>
              <a:ext cx="688077" cy="6672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2953921" y="6192014"/>
            <a:ext cx="1145927" cy="1047835"/>
            <a:chOff x="0" y="0"/>
            <a:chExt cx="846864" cy="774372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46864" cy="774372"/>
            </a:xfrm>
            <a:custGeom>
              <a:avLst/>
              <a:gdLst/>
              <a:ahLst/>
              <a:cxnLst/>
              <a:rect r="r" b="b" t="t" l="l"/>
              <a:pathLst>
                <a:path h="774372" w="846864">
                  <a:moveTo>
                    <a:pt x="423432" y="0"/>
                  </a:moveTo>
                  <a:cubicBezTo>
                    <a:pt x="189577" y="0"/>
                    <a:pt x="0" y="173349"/>
                    <a:pt x="0" y="387186"/>
                  </a:cubicBezTo>
                  <a:cubicBezTo>
                    <a:pt x="0" y="601023"/>
                    <a:pt x="189577" y="774372"/>
                    <a:pt x="423432" y="774372"/>
                  </a:cubicBezTo>
                  <a:cubicBezTo>
                    <a:pt x="657287" y="774372"/>
                    <a:pt x="846864" y="601023"/>
                    <a:pt x="846864" y="387186"/>
                  </a:cubicBezTo>
                  <a:cubicBezTo>
                    <a:pt x="846864" y="173349"/>
                    <a:pt x="657287" y="0"/>
                    <a:pt x="423432" y="0"/>
                  </a:cubicBezTo>
                  <a:close/>
                </a:path>
              </a:pathLst>
            </a:custGeom>
            <a:solidFill>
              <a:srgbClr val="FFD964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79394" y="34497"/>
              <a:ext cx="688077" cy="6672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2954485" y="7936649"/>
            <a:ext cx="1145927" cy="1047835"/>
            <a:chOff x="0" y="0"/>
            <a:chExt cx="846864" cy="774372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46864" cy="774372"/>
            </a:xfrm>
            <a:custGeom>
              <a:avLst/>
              <a:gdLst/>
              <a:ahLst/>
              <a:cxnLst/>
              <a:rect r="r" b="b" t="t" l="l"/>
              <a:pathLst>
                <a:path h="774372" w="846864">
                  <a:moveTo>
                    <a:pt x="423432" y="0"/>
                  </a:moveTo>
                  <a:cubicBezTo>
                    <a:pt x="189577" y="0"/>
                    <a:pt x="0" y="173349"/>
                    <a:pt x="0" y="387186"/>
                  </a:cubicBezTo>
                  <a:cubicBezTo>
                    <a:pt x="0" y="601023"/>
                    <a:pt x="189577" y="774372"/>
                    <a:pt x="423432" y="774372"/>
                  </a:cubicBezTo>
                  <a:cubicBezTo>
                    <a:pt x="657287" y="774372"/>
                    <a:pt x="846864" y="601023"/>
                    <a:pt x="846864" y="387186"/>
                  </a:cubicBezTo>
                  <a:cubicBezTo>
                    <a:pt x="846864" y="173349"/>
                    <a:pt x="657287" y="0"/>
                    <a:pt x="423432" y="0"/>
                  </a:cubicBezTo>
                  <a:close/>
                </a:path>
              </a:pathLst>
            </a:custGeom>
            <a:solidFill>
              <a:srgbClr val="FFD964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79394" y="34497"/>
              <a:ext cx="688077" cy="6672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0604724" y="4513041"/>
            <a:ext cx="1145927" cy="1047835"/>
            <a:chOff x="0" y="0"/>
            <a:chExt cx="846864" cy="774372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846864" cy="774372"/>
            </a:xfrm>
            <a:custGeom>
              <a:avLst/>
              <a:gdLst/>
              <a:ahLst/>
              <a:cxnLst/>
              <a:rect r="r" b="b" t="t" l="l"/>
              <a:pathLst>
                <a:path h="774372" w="846864">
                  <a:moveTo>
                    <a:pt x="423432" y="0"/>
                  </a:moveTo>
                  <a:cubicBezTo>
                    <a:pt x="189577" y="0"/>
                    <a:pt x="0" y="173349"/>
                    <a:pt x="0" y="387186"/>
                  </a:cubicBezTo>
                  <a:cubicBezTo>
                    <a:pt x="0" y="601023"/>
                    <a:pt x="189577" y="774372"/>
                    <a:pt x="423432" y="774372"/>
                  </a:cubicBezTo>
                  <a:cubicBezTo>
                    <a:pt x="657287" y="774372"/>
                    <a:pt x="846864" y="601023"/>
                    <a:pt x="846864" y="387186"/>
                  </a:cubicBezTo>
                  <a:cubicBezTo>
                    <a:pt x="846864" y="173349"/>
                    <a:pt x="657287" y="0"/>
                    <a:pt x="423432" y="0"/>
                  </a:cubicBezTo>
                  <a:close/>
                </a:path>
              </a:pathLst>
            </a:custGeom>
            <a:solidFill>
              <a:srgbClr val="FFD964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79394" y="34497"/>
              <a:ext cx="688077" cy="6672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0624784" y="6257676"/>
            <a:ext cx="1145927" cy="1047835"/>
            <a:chOff x="0" y="0"/>
            <a:chExt cx="846864" cy="774372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846864" cy="774372"/>
            </a:xfrm>
            <a:custGeom>
              <a:avLst/>
              <a:gdLst/>
              <a:ahLst/>
              <a:cxnLst/>
              <a:rect r="r" b="b" t="t" l="l"/>
              <a:pathLst>
                <a:path h="774372" w="846864">
                  <a:moveTo>
                    <a:pt x="423432" y="0"/>
                  </a:moveTo>
                  <a:cubicBezTo>
                    <a:pt x="189577" y="0"/>
                    <a:pt x="0" y="173349"/>
                    <a:pt x="0" y="387186"/>
                  </a:cubicBezTo>
                  <a:cubicBezTo>
                    <a:pt x="0" y="601023"/>
                    <a:pt x="189577" y="774372"/>
                    <a:pt x="423432" y="774372"/>
                  </a:cubicBezTo>
                  <a:cubicBezTo>
                    <a:pt x="657287" y="774372"/>
                    <a:pt x="846864" y="601023"/>
                    <a:pt x="846864" y="387186"/>
                  </a:cubicBezTo>
                  <a:cubicBezTo>
                    <a:pt x="846864" y="173349"/>
                    <a:pt x="657287" y="0"/>
                    <a:pt x="423432" y="0"/>
                  </a:cubicBezTo>
                  <a:close/>
                </a:path>
              </a:pathLst>
            </a:custGeom>
            <a:solidFill>
              <a:srgbClr val="FFD964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79394" y="34497"/>
              <a:ext cx="688077" cy="6672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0625348" y="8002311"/>
            <a:ext cx="1145927" cy="1047835"/>
            <a:chOff x="0" y="0"/>
            <a:chExt cx="846864" cy="774372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846864" cy="774372"/>
            </a:xfrm>
            <a:custGeom>
              <a:avLst/>
              <a:gdLst/>
              <a:ahLst/>
              <a:cxnLst/>
              <a:rect r="r" b="b" t="t" l="l"/>
              <a:pathLst>
                <a:path h="774372" w="846864">
                  <a:moveTo>
                    <a:pt x="423432" y="0"/>
                  </a:moveTo>
                  <a:cubicBezTo>
                    <a:pt x="189577" y="0"/>
                    <a:pt x="0" y="173349"/>
                    <a:pt x="0" y="387186"/>
                  </a:cubicBezTo>
                  <a:cubicBezTo>
                    <a:pt x="0" y="601023"/>
                    <a:pt x="189577" y="774372"/>
                    <a:pt x="423432" y="774372"/>
                  </a:cubicBezTo>
                  <a:cubicBezTo>
                    <a:pt x="657287" y="774372"/>
                    <a:pt x="846864" y="601023"/>
                    <a:pt x="846864" y="387186"/>
                  </a:cubicBezTo>
                  <a:cubicBezTo>
                    <a:pt x="846864" y="173349"/>
                    <a:pt x="657287" y="0"/>
                    <a:pt x="423432" y="0"/>
                  </a:cubicBezTo>
                  <a:close/>
                </a:path>
              </a:pathLst>
            </a:custGeom>
            <a:solidFill>
              <a:srgbClr val="FFD964"/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79394" y="34497"/>
              <a:ext cx="688077" cy="6672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39" id="39"/>
          <p:cNvSpPr txBox="true"/>
          <p:nvPr/>
        </p:nvSpPr>
        <p:spPr>
          <a:xfrm rot="0">
            <a:off x="5566036" y="997722"/>
            <a:ext cx="11463435" cy="12186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0005"/>
              </a:lnSpc>
            </a:pPr>
            <a:r>
              <a:rPr lang="en-US" sz="7147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OVERVIEW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3335004" y="4645169"/>
            <a:ext cx="303521" cy="588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08"/>
              </a:lnSpc>
            </a:pPr>
            <a:r>
              <a:rPr lang="en-US" b="true" sz="3434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A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3354500" y="6361516"/>
            <a:ext cx="304649" cy="588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08"/>
              </a:lnSpc>
            </a:pPr>
            <a:r>
              <a:rPr lang="en-US" b="true" sz="3434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B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3374673" y="8134438"/>
            <a:ext cx="305551" cy="588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08"/>
              </a:lnSpc>
            </a:pPr>
            <a:r>
              <a:rPr lang="en-US" b="true" sz="3434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C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5143476" y="4570191"/>
            <a:ext cx="3559203" cy="7828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069"/>
              </a:lnSpc>
            </a:pPr>
            <a:r>
              <a:rPr lang="en-US" sz="3069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Motivation &amp; Related Work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4887742" y="6397972"/>
            <a:ext cx="3814936" cy="7517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69"/>
              </a:lnSpc>
            </a:pPr>
            <a:r>
              <a:rPr lang="en-US" sz="2969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Technical Problem &amp; Challenges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0991097" y="4710830"/>
            <a:ext cx="333061" cy="588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08"/>
              </a:lnSpc>
            </a:pPr>
            <a:r>
              <a:rPr lang="en-US" b="true" sz="3434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D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1043741" y="6427177"/>
            <a:ext cx="267892" cy="588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08"/>
              </a:lnSpc>
            </a:pPr>
            <a:r>
              <a:rPr lang="en-US" b="true" sz="3434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E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1072370" y="8200099"/>
            <a:ext cx="251882" cy="588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08"/>
              </a:lnSpc>
            </a:pPr>
            <a:r>
              <a:rPr lang="en-US" b="true" sz="3434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F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4233328" y="8312240"/>
            <a:ext cx="4469350" cy="3681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869"/>
              </a:lnSpc>
            </a:pPr>
            <a:r>
              <a:rPr lang="en-US" sz="2869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Framework &amp; Design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2221981" y="4683811"/>
            <a:ext cx="4322462" cy="7395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866"/>
              </a:lnSpc>
            </a:pPr>
            <a:r>
              <a:rPr lang="en-US" sz="2866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Algorithms &amp; Prompt Parameters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1843299" y="6536558"/>
            <a:ext cx="4701144" cy="3776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866"/>
              </a:lnSpc>
            </a:pPr>
            <a:r>
              <a:rPr lang="en-US" sz="2866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Evaluation Setup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1843299" y="8132323"/>
            <a:ext cx="4701144" cy="7084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766"/>
              </a:lnSpc>
            </a:pPr>
            <a:r>
              <a:rPr lang="en-US" sz="2766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Expectations, Limitations &amp; Issues</a:t>
            </a:r>
          </a:p>
        </p:txBody>
      </p:sp>
      <p:sp>
        <p:nvSpPr>
          <p:cNvPr name="Freeform 52" id="52"/>
          <p:cNvSpPr/>
          <p:nvPr/>
        </p:nvSpPr>
        <p:spPr>
          <a:xfrm flipH="true" flipV="false" rot="0">
            <a:off x="-2322919" y="4670781"/>
            <a:ext cx="3789930" cy="3993221"/>
          </a:xfrm>
          <a:custGeom>
            <a:avLst/>
            <a:gdLst/>
            <a:ahLst/>
            <a:cxnLst/>
            <a:rect r="r" b="b" t="t" l="l"/>
            <a:pathLst>
              <a:path h="3993221" w="3789930">
                <a:moveTo>
                  <a:pt x="3789930" y="0"/>
                </a:moveTo>
                <a:lnTo>
                  <a:pt x="0" y="0"/>
                </a:lnTo>
                <a:lnTo>
                  <a:pt x="0" y="3993221"/>
                </a:lnTo>
                <a:lnTo>
                  <a:pt x="3789930" y="3993221"/>
                </a:lnTo>
                <a:lnTo>
                  <a:pt x="3789930" y="0"/>
                </a:lnTo>
                <a:close/>
              </a:path>
            </a:pathLst>
          </a:custGeom>
          <a:blipFill>
            <a:blip r:embed="rId4">
              <a:alphaModFix amt="48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82451" y="2669504"/>
            <a:ext cx="15186374" cy="6010729"/>
            <a:chOff x="0" y="0"/>
            <a:chExt cx="3999703" cy="158307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999703" cy="1583073"/>
            </a:xfrm>
            <a:custGeom>
              <a:avLst/>
              <a:gdLst/>
              <a:ahLst/>
              <a:cxnLst/>
              <a:rect r="r" b="b" t="t" l="l"/>
              <a:pathLst>
                <a:path h="1583073" w="3999703">
                  <a:moveTo>
                    <a:pt x="25999" y="0"/>
                  </a:moveTo>
                  <a:lnTo>
                    <a:pt x="3973704" y="0"/>
                  </a:lnTo>
                  <a:cubicBezTo>
                    <a:pt x="3988063" y="0"/>
                    <a:pt x="3999703" y="11640"/>
                    <a:pt x="3999703" y="25999"/>
                  </a:cubicBezTo>
                  <a:lnTo>
                    <a:pt x="3999703" y="1557073"/>
                  </a:lnTo>
                  <a:cubicBezTo>
                    <a:pt x="3999703" y="1563969"/>
                    <a:pt x="3996964" y="1570582"/>
                    <a:pt x="3992088" y="1575458"/>
                  </a:cubicBezTo>
                  <a:cubicBezTo>
                    <a:pt x="3987212" y="1580334"/>
                    <a:pt x="3980599" y="1583073"/>
                    <a:pt x="3973704" y="1583073"/>
                  </a:cubicBezTo>
                  <a:lnTo>
                    <a:pt x="25999" y="1583073"/>
                  </a:lnTo>
                  <a:cubicBezTo>
                    <a:pt x="11640" y="1583073"/>
                    <a:pt x="0" y="1571432"/>
                    <a:pt x="0" y="1557073"/>
                  </a:cubicBezTo>
                  <a:lnTo>
                    <a:pt x="0" y="25999"/>
                  </a:lnTo>
                  <a:cubicBezTo>
                    <a:pt x="0" y="11640"/>
                    <a:pt x="11640" y="0"/>
                    <a:pt x="25999" y="0"/>
                  </a:cubicBezTo>
                  <a:close/>
                </a:path>
              </a:pathLst>
            </a:custGeom>
            <a:solidFill>
              <a:srgbClr val="60727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3999703" cy="16211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557229" y="1254956"/>
            <a:ext cx="15173542" cy="1221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05"/>
              </a:lnSpc>
            </a:pPr>
            <a:r>
              <a:rPr lang="en-US" sz="7147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MOTIVATION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763010" y="3534582"/>
            <a:ext cx="14425255" cy="4731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14467" indent="-307233" lvl="1">
              <a:lnSpc>
                <a:spcPts val="3415"/>
              </a:lnSpc>
              <a:buFont typeface="Arial"/>
              <a:buChar char="•"/>
            </a:pPr>
            <a:r>
              <a:rPr lang="en-US" sz="2846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LLMs are rapidly becoming standard study tools.</a:t>
            </a:r>
          </a:p>
          <a:p>
            <a:pPr algn="l">
              <a:lnSpc>
                <a:spcPts val="3415"/>
              </a:lnSpc>
            </a:pPr>
          </a:p>
          <a:p>
            <a:pPr algn="l" marL="614467" indent="-307233" lvl="1">
              <a:lnSpc>
                <a:spcPts val="3415"/>
              </a:lnSpc>
              <a:buFont typeface="Arial"/>
              <a:buChar char="•"/>
            </a:pPr>
            <a:r>
              <a:rPr lang="en-US" sz="2846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Students often rely on them without understanding prompting or model limitations.</a:t>
            </a:r>
          </a:p>
          <a:p>
            <a:pPr algn="l">
              <a:lnSpc>
                <a:spcPts val="3415"/>
              </a:lnSpc>
            </a:pPr>
          </a:p>
          <a:p>
            <a:pPr algn="l" marL="614467" indent="-307233" lvl="1">
              <a:lnSpc>
                <a:spcPts val="3415"/>
              </a:lnSpc>
              <a:buFont typeface="Arial"/>
              <a:buChar char="•"/>
            </a:pPr>
            <a:r>
              <a:rPr lang="en-US" sz="2846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Misleading inputs can yield confident but wrong answers.</a:t>
            </a:r>
          </a:p>
          <a:p>
            <a:pPr algn="l">
              <a:lnSpc>
                <a:spcPts val="3415"/>
              </a:lnSpc>
            </a:pPr>
          </a:p>
          <a:p>
            <a:pPr algn="l" marL="614467" indent="-307233" lvl="1">
              <a:lnSpc>
                <a:spcPts val="3415"/>
              </a:lnSpc>
              <a:buFont typeface="Arial"/>
              <a:buChar char="•"/>
            </a:pPr>
            <a:r>
              <a:rPr lang="en-US" sz="2846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We need to understand how models respond to incomplete, misleading, or age-specific prompts.</a:t>
            </a:r>
          </a:p>
          <a:p>
            <a:pPr algn="l">
              <a:lnSpc>
                <a:spcPts val="3415"/>
              </a:lnSpc>
            </a:pPr>
          </a:p>
          <a:p>
            <a:pPr algn="l" marL="614467" indent="-307233" lvl="1">
              <a:lnSpc>
                <a:spcPts val="3415"/>
              </a:lnSpc>
              <a:buFont typeface="Arial"/>
              <a:buChar char="•"/>
            </a:pPr>
            <a:r>
              <a:rPr lang="en-US" sz="2846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Educators need data-driven frameworks to guide responsible and critical LLM use.</a:t>
            </a:r>
          </a:p>
          <a:p>
            <a:pPr algn="l">
              <a:lnSpc>
                <a:spcPts val="3415"/>
              </a:lnSpc>
            </a:pP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6930346" y="2669504"/>
            <a:ext cx="3460245" cy="3645852"/>
          </a:xfrm>
          <a:custGeom>
            <a:avLst/>
            <a:gdLst/>
            <a:ahLst/>
            <a:cxnLst/>
            <a:rect r="r" b="b" t="t" l="l"/>
            <a:pathLst>
              <a:path h="3645852" w="3460245">
                <a:moveTo>
                  <a:pt x="0" y="0"/>
                </a:moveTo>
                <a:lnTo>
                  <a:pt x="3460245" y="0"/>
                </a:lnTo>
                <a:lnTo>
                  <a:pt x="3460245" y="3645852"/>
                </a:lnTo>
                <a:lnTo>
                  <a:pt x="0" y="36458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82451" y="2669504"/>
            <a:ext cx="15186374" cy="5320355"/>
            <a:chOff x="0" y="0"/>
            <a:chExt cx="3999703" cy="140124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999703" cy="1401246"/>
            </a:xfrm>
            <a:custGeom>
              <a:avLst/>
              <a:gdLst/>
              <a:ahLst/>
              <a:cxnLst/>
              <a:rect r="r" b="b" t="t" l="l"/>
              <a:pathLst>
                <a:path h="1401246" w="3999703">
                  <a:moveTo>
                    <a:pt x="25999" y="0"/>
                  </a:moveTo>
                  <a:lnTo>
                    <a:pt x="3973704" y="0"/>
                  </a:lnTo>
                  <a:cubicBezTo>
                    <a:pt x="3988063" y="0"/>
                    <a:pt x="3999703" y="11640"/>
                    <a:pt x="3999703" y="25999"/>
                  </a:cubicBezTo>
                  <a:lnTo>
                    <a:pt x="3999703" y="1375246"/>
                  </a:lnTo>
                  <a:cubicBezTo>
                    <a:pt x="3999703" y="1389605"/>
                    <a:pt x="3988063" y="1401246"/>
                    <a:pt x="3973704" y="1401246"/>
                  </a:cubicBezTo>
                  <a:lnTo>
                    <a:pt x="25999" y="1401246"/>
                  </a:lnTo>
                  <a:cubicBezTo>
                    <a:pt x="11640" y="1401246"/>
                    <a:pt x="0" y="1389605"/>
                    <a:pt x="0" y="1375246"/>
                  </a:cubicBezTo>
                  <a:lnTo>
                    <a:pt x="0" y="25999"/>
                  </a:lnTo>
                  <a:cubicBezTo>
                    <a:pt x="0" y="11640"/>
                    <a:pt x="11640" y="0"/>
                    <a:pt x="25999" y="0"/>
                  </a:cubicBezTo>
                  <a:close/>
                </a:path>
              </a:pathLst>
            </a:custGeom>
            <a:solidFill>
              <a:srgbClr val="60727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3999703" cy="14393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557229" y="1395052"/>
            <a:ext cx="15924437" cy="10818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805"/>
              </a:lnSpc>
            </a:pPr>
            <a:r>
              <a:rPr lang="en-US" sz="628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RELATED WORK &amp; RESEAERCH GAP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571740" y="2977006"/>
            <a:ext cx="14807796" cy="4695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66922" indent="-333461" lvl="1">
              <a:lnSpc>
                <a:spcPts val="3706"/>
              </a:lnSpc>
              <a:buFont typeface="Arial"/>
              <a:buChar char="•"/>
            </a:pPr>
            <a:r>
              <a:rPr lang="en-US" sz="3089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Prior LLM studies: focus on reasoning accuracy or factuality (OpenAI, Anthropic, Meta).</a:t>
            </a:r>
          </a:p>
          <a:p>
            <a:pPr algn="l">
              <a:lnSpc>
                <a:spcPts val="3706"/>
              </a:lnSpc>
            </a:pPr>
          </a:p>
          <a:p>
            <a:pPr algn="l" marL="666922" indent="-333461" lvl="1">
              <a:lnSpc>
                <a:spcPts val="3706"/>
              </a:lnSpc>
              <a:buFont typeface="Arial"/>
              <a:buChar char="•"/>
            </a:pPr>
            <a:r>
              <a:rPr lang="en-US" sz="3089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Few studies connect prompt variation with educational usability.</a:t>
            </a:r>
          </a:p>
          <a:p>
            <a:pPr algn="l">
              <a:lnSpc>
                <a:spcPts val="3706"/>
              </a:lnSpc>
            </a:pPr>
          </a:p>
          <a:p>
            <a:pPr algn="l" marL="666922" indent="-333461" lvl="1">
              <a:lnSpc>
                <a:spcPts val="3706"/>
              </a:lnSpc>
              <a:buFont typeface="Arial"/>
              <a:buChar char="•"/>
            </a:pPr>
            <a:r>
              <a:rPr lang="en-US" sz="3089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Existing ed</a:t>
            </a:r>
            <a:r>
              <a:rPr lang="en-US" sz="3089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ucational LLM work: tutoring systems, not prompt framework design.</a:t>
            </a:r>
          </a:p>
          <a:p>
            <a:pPr algn="l">
              <a:lnSpc>
                <a:spcPts val="3706"/>
              </a:lnSpc>
            </a:pPr>
          </a:p>
          <a:p>
            <a:pPr algn="l" marL="666922" indent="-333461" lvl="1">
              <a:lnSpc>
                <a:spcPts val="3706"/>
              </a:lnSpc>
              <a:buFont typeface="Arial"/>
              <a:buChar char="•"/>
            </a:pPr>
            <a:r>
              <a:rPr lang="en-US" sz="3089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Gap: Little research linking data quality variation to student-level learning scenarios.</a:t>
            </a:r>
          </a:p>
          <a:p>
            <a:pPr algn="l">
              <a:lnSpc>
                <a:spcPts val="3706"/>
              </a:lnSpc>
            </a:pP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6930346" y="2669504"/>
            <a:ext cx="3460245" cy="3645852"/>
          </a:xfrm>
          <a:custGeom>
            <a:avLst/>
            <a:gdLst/>
            <a:ahLst/>
            <a:cxnLst/>
            <a:rect r="r" b="b" t="t" l="l"/>
            <a:pathLst>
              <a:path h="3645852" w="3460245">
                <a:moveTo>
                  <a:pt x="0" y="0"/>
                </a:moveTo>
                <a:lnTo>
                  <a:pt x="3460245" y="0"/>
                </a:lnTo>
                <a:lnTo>
                  <a:pt x="3460245" y="3645852"/>
                </a:lnTo>
                <a:lnTo>
                  <a:pt x="0" y="36458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-1582883" y="-336774"/>
            <a:ext cx="7315200" cy="2894275"/>
          </a:xfrm>
          <a:custGeom>
            <a:avLst/>
            <a:gdLst/>
            <a:ahLst/>
            <a:cxnLst/>
            <a:rect r="r" b="b" t="t" l="l"/>
            <a:pathLst>
              <a:path h="2894275" w="7315200">
                <a:moveTo>
                  <a:pt x="0" y="2894275"/>
                </a:moveTo>
                <a:lnTo>
                  <a:pt x="7315200" y="2894275"/>
                </a:lnTo>
                <a:lnTo>
                  <a:pt x="7315200" y="0"/>
                </a:lnTo>
                <a:lnTo>
                  <a:pt x="0" y="0"/>
                </a:lnTo>
                <a:lnTo>
                  <a:pt x="0" y="289427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414065" y="3585157"/>
            <a:ext cx="11952416" cy="5673143"/>
            <a:chOff x="0" y="0"/>
            <a:chExt cx="3147961" cy="149416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147962" cy="1494161"/>
            </a:xfrm>
            <a:custGeom>
              <a:avLst/>
              <a:gdLst/>
              <a:ahLst/>
              <a:cxnLst/>
              <a:rect r="r" b="b" t="t" l="l"/>
              <a:pathLst>
                <a:path h="1494161" w="3147962">
                  <a:moveTo>
                    <a:pt x="33034" y="0"/>
                  </a:moveTo>
                  <a:lnTo>
                    <a:pt x="3114927" y="0"/>
                  </a:lnTo>
                  <a:cubicBezTo>
                    <a:pt x="3123689" y="0"/>
                    <a:pt x="3132091" y="3480"/>
                    <a:pt x="3138286" y="9675"/>
                  </a:cubicBezTo>
                  <a:cubicBezTo>
                    <a:pt x="3144481" y="15871"/>
                    <a:pt x="3147962" y="24273"/>
                    <a:pt x="3147962" y="33034"/>
                  </a:cubicBezTo>
                  <a:lnTo>
                    <a:pt x="3147962" y="1461127"/>
                  </a:lnTo>
                  <a:cubicBezTo>
                    <a:pt x="3147962" y="1469888"/>
                    <a:pt x="3144481" y="1478291"/>
                    <a:pt x="3138286" y="1484486"/>
                  </a:cubicBezTo>
                  <a:cubicBezTo>
                    <a:pt x="3132091" y="1490681"/>
                    <a:pt x="3123689" y="1494161"/>
                    <a:pt x="3114927" y="1494161"/>
                  </a:cubicBezTo>
                  <a:lnTo>
                    <a:pt x="33034" y="1494161"/>
                  </a:lnTo>
                  <a:cubicBezTo>
                    <a:pt x="14790" y="1494161"/>
                    <a:pt x="0" y="1479371"/>
                    <a:pt x="0" y="1461127"/>
                  </a:cubicBezTo>
                  <a:lnTo>
                    <a:pt x="0" y="33034"/>
                  </a:lnTo>
                  <a:cubicBezTo>
                    <a:pt x="0" y="14790"/>
                    <a:pt x="14790" y="0"/>
                    <a:pt x="33034" y="0"/>
                  </a:cubicBezTo>
                  <a:close/>
                </a:path>
              </a:pathLst>
            </a:custGeom>
            <a:solidFill>
              <a:srgbClr val="607274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3147961" cy="15322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1175890" y="1391658"/>
            <a:ext cx="6489610" cy="24854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0005"/>
              </a:lnSpc>
            </a:pPr>
            <a:r>
              <a:rPr lang="en-US" sz="7147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TECHNICAL PROBLEM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34183" y="3960428"/>
            <a:ext cx="9560358" cy="48559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44165" indent="-372083" lvl="1">
              <a:lnSpc>
                <a:spcPts val="4825"/>
              </a:lnSpc>
              <a:buFont typeface="Arial"/>
              <a:buChar char="•"/>
            </a:pPr>
            <a:r>
              <a:rPr lang="en-US" sz="3446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Prompts are data inputs, outputs are data products.</a:t>
            </a:r>
          </a:p>
          <a:p>
            <a:pPr algn="l" marL="744165" indent="-372083" lvl="1">
              <a:lnSpc>
                <a:spcPts val="4825"/>
              </a:lnSpc>
              <a:buFont typeface="Arial"/>
              <a:buChar char="•"/>
            </a:pPr>
            <a:r>
              <a:rPr lang="en-US" sz="3446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Designing a framework that measures how three LLMs: GPT-4, Claude 1, and Gemini, handle varying prompt clarity, correctness, and explanation depth across different difficulty levels, while identifying when they fail to catch misleading inputs.</a:t>
            </a:r>
          </a:p>
        </p:txBody>
      </p:sp>
      <p:sp>
        <p:nvSpPr>
          <p:cNvPr name="Freeform 8" id="8"/>
          <p:cNvSpPr/>
          <p:nvPr/>
        </p:nvSpPr>
        <p:spPr>
          <a:xfrm flipH="true" flipV="false" rot="0">
            <a:off x="11840297" y="7392725"/>
            <a:ext cx="7315200" cy="2894275"/>
          </a:xfrm>
          <a:custGeom>
            <a:avLst/>
            <a:gdLst/>
            <a:ahLst/>
            <a:cxnLst/>
            <a:rect r="r" b="b" t="t" l="l"/>
            <a:pathLst>
              <a:path h="2894275" w="7315200">
                <a:moveTo>
                  <a:pt x="7315200" y="0"/>
                </a:moveTo>
                <a:lnTo>
                  <a:pt x="0" y="0"/>
                </a:lnTo>
                <a:lnTo>
                  <a:pt x="0" y="2894275"/>
                </a:lnTo>
                <a:lnTo>
                  <a:pt x="7315200" y="2894275"/>
                </a:lnTo>
                <a:lnTo>
                  <a:pt x="73152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120885" y="4530729"/>
            <a:ext cx="10376133" cy="1228620"/>
            <a:chOff x="0" y="0"/>
            <a:chExt cx="2732809" cy="32358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732809" cy="323587"/>
            </a:xfrm>
            <a:custGeom>
              <a:avLst/>
              <a:gdLst/>
              <a:ahLst/>
              <a:cxnLst/>
              <a:rect r="r" b="b" t="t" l="l"/>
              <a:pathLst>
                <a:path h="323587" w="2732809">
                  <a:moveTo>
                    <a:pt x="38053" y="0"/>
                  </a:moveTo>
                  <a:lnTo>
                    <a:pt x="2694756" y="0"/>
                  </a:lnTo>
                  <a:cubicBezTo>
                    <a:pt x="2715772" y="0"/>
                    <a:pt x="2732809" y="17037"/>
                    <a:pt x="2732809" y="38053"/>
                  </a:cubicBezTo>
                  <a:lnTo>
                    <a:pt x="2732809" y="285535"/>
                  </a:lnTo>
                  <a:cubicBezTo>
                    <a:pt x="2732809" y="306551"/>
                    <a:pt x="2715772" y="323587"/>
                    <a:pt x="2694756" y="323587"/>
                  </a:cubicBezTo>
                  <a:lnTo>
                    <a:pt x="38053" y="323587"/>
                  </a:lnTo>
                  <a:cubicBezTo>
                    <a:pt x="17037" y="323587"/>
                    <a:pt x="0" y="306551"/>
                    <a:pt x="0" y="285535"/>
                  </a:cubicBezTo>
                  <a:lnTo>
                    <a:pt x="0" y="38053"/>
                  </a:lnTo>
                  <a:cubicBezTo>
                    <a:pt x="0" y="17037"/>
                    <a:pt x="17037" y="0"/>
                    <a:pt x="38053" y="0"/>
                  </a:cubicBezTo>
                  <a:close/>
                </a:path>
              </a:pathLst>
            </a:custGeom>
            <a:solidFill>
              <a:srgbClr val="60727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732809" cy="3616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73934" y="4530729"/>
            <a:ext cx="4032408" cy="1228620"/>
            <a:chOff x="0" y="0"/>
            <a:chExt cx="1062033" cy="32358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62034" cy="323587"/>
            </a:xfrm>
            <a:custGeom>
              <a:avLst/>
              <a:gdLst/>
              <a:ahLst/>
              <a:cxnLst/>
              <a:rect r="r" b="b" t="t" l="l"/>
              <a:pathLst>
                <a:path h="323587" w="1062034">
                  <a:moveTo>
                    <a:pt x="97916" y="0"/>
                  </a:moveTo>
                  <a:lnTo>
                    <a:pt x="964117" y="0"/>
                  </a:lnTo>
                  <a:cubicBezTo>
                    <a:pt x="1018195" y="0"/>
                    <a:pt x="1062034" y="43839"/>
                    <a:pt x="1062034" y="97916"/>
                  </a:cubicBezTo>
                  <a:lnTo>
                    <a:pt x="1062034" y="225671"/>
                  </a:lnTo>
                  <a:cubicBezTo>
                    <a:pt x="1062034" y="279749"/>
                    <a:pt x="1018195" y="323587"/>
                    <a:pt x="964117" y="323587"/>
                  </a:cubicBezTo>
                  <a:lnTo>
                    <a:pt x="97916" y="323587"/>
                  </a:lnTo>
                  <a:cubicBezTo>
                    <a:pt x="43839" y="323587"/>
                    <a:pt x="0" y="279749"/>
                    <a:pt x="0" y="225671"/>
                  </a:cubicBezTo>
                  <a:lnTo>
                    <a:pt x="0" y="97916"/>
                  </a:lnTo>
                  <a:cubicBezTo>
                    <a:pt x="0" y="43839"/>
                    <a:pt x="43839" y="0"/>
                    <a:pt x="97916" y="0"/>
                  </a:cubicBezTo>
                  <a:close/>
                </a:path>
              </a:pathLst>
            </a:custGeom>
            <a:solidFill>
              <a:srgbClr val="C1935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062033" cy="3616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4120885" y="6124837"/>
            <a:ext cx="10376133" cy="1228620"/>
            <a:chOff x="0" y="0"/>
            <a:chExt cx="2732809" cy="32358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32809" cy="323587"/>
            </a:xfrm>
            <a:custGeom>
              <a:avLst/>
              <a:gdLst/>
              <a:ahLst/>
              <a:cxnLst/>
              <a:rect r="r" b="b" t="t" l="l"/>
              <a:pathLst>
                <a:path h="323587" w="2732809">
                  <a:moveTo>
                    <a:pt x="38053" y="0"/>
                  </a:moveTo>
                  <a:lnTo>
                    <a:pt x="2694756" y="0"/>
                  </a:lnTo>
                  <a:cubicBezTo>
                    <a:pt x="2715772" y="0"/>
                    <a:pt x="2732809" y="17037"/>
                    <a:pt x="2732809" y="38053"/>
                  </a:cubicBezTo>
                  <a:lnTo>
                    <a:pt x="2732809" y="285535"/>
                  </a:lnTo>
                  <a:cubicBezTo>
                    <a:pt x="2732809" y="306551"/>
                    <a:pt x="2715772" y="323587"/>
                    <a:pt x="2694756" y="323587"/>
                  </a:cubicBezTo>
                  <a:lnTo>
                    <a:pt x="38053" y="323587"/>
                  </a:lnTo>
                  <a:cubicBezTo>
                    <a:pt x="17037" y="323587"/>
                    <a:pt x="0" y="306551"/>
                    <a:pt x="0" y="285535"/>
                  </a:cubicBezTo>
                  <a:lnTo>
                    <a:pt x="0" y="38053"/>
                  </a:lnTo>
                  <a:cubicBezTo>
                    <a:pt x="0" y="17037"/>
                    <a:pt x="17037" y="0"/>
                    <a:pt x="38053" y="0"/>
                  </a:cubicBezTo>
                  <a:close/>
                </a:path>
              </a:pathLst>
            </a:custGeom>
            <a:solidFill>
              <a:srgbClr val="607274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732809" cy="3616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673934" y="6124837"/>
            <a:ext cx="4032408" cy="1228620"/>
            <a:chOff x="0" y="0"/>
            <a:chExt cx="1062033" cy="32358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62034" cy="323587"/>
            </a:xfrm>
            <a:custGeom>
              <a:avLst/>
              <a:gdLst/>
              <a:ahLst/>
              <a:cxnLst/>
              <a:rect r="r" b="b" t="t" l="l"/>
              <a:pathLst>
                <a:path h="323587" w="1062034">
                  <a:moveTo>
                    <a:pt x="97916" y="0"/>
                  </a:moveTo>
                  <a:lnTo>
                    <a:pt x="964117" y="0"/>
                  </a:lnTo>
                  <a:cubicBezTo>
                    <a:pt x="1018195" y="0"/>
                    <a:pt x="1062034" y="43839"/>
                    <a:pt x="1062034" y="97916"/>
                  </a:cubicBezTo>
                  <a:lnTo>
                    <a:pt x="1062034" y="225671"/>
                  </a:lnTo>
                  <a:cubicBezTo>
                    <a:pt x="1062034" y="279749"/>
                    <a:pt x="1018195" y="323587"/>
                    <a:pt x="964117" y="323587"/>
                  </a:cubicBezTo>
                  <a:lnTo>
                    <a:pt x="97916" y="323587"/>
                  </a:lnTo>
                  <a:cubicBezTo>
                    <a:pt x="43839" y="323587"/>
                    <a:pt x="0" y="279749"/>
                    <a:pt x="0" y="225671"/>
                  </a:cubicBezTo>
                  <a:lnTo>
                    <a:pt x="0" y="97916"/>
                  </a:lnTo>
                  <a:cubicBezTo>
                    <a:pt x="0" y="43839"/>
                    <a:pt x="43839" y="0"/>
                    <a:pt x="97916" y="0"/>
                  </a:cubicBezTo>
                  <a:close/>
                </a:path>
              </a:pathLst>
            </a:custGeom>
            <a:solidFill>
              <a:srgbClr val="C1935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062033" cy="3616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4120885" y="7718945"/>
            <a:ext cx="10376133" cy="1228620"/>
            <a:chOff x="0" y="0"/>
            <a:chExt cx="2732809" cy="32358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732809" cy="323587"/>
            </a:xfrm>
            <a:custGeom>
              <a:avLst/>
              <a:gdLst/>
              <a:ahLst/>
              <a:cxnLst/>
              <a:rect r="r" b="b" t="t" l="l"/>
              <a:pathLst>
                <a:path h="323587" w="2732809">
                  <a:moveTo>
                    <a:pt x="38053" y="0"/>
                  </a:moveTo>
                  <a:lnTo>
                    <a:pt x="2694756" y="0"/>
                  </a:lnTo>
                  <a:cubicBezTo>
                    <a:pt x="2715772" y="0"/>
                    <a:pt x="2732809" y="17037"/>
                    <a:pt x="2732809" y="38053"/>
                  </a:cubicBezTo>
                  <a:lnTo>
                    <a:pt x="2732809" y="285535"/>
                  </a:lnTo>
                  <a:cubicBezTo>
                    <a:pt x="2732809" y="306551"/>
                    <a:pt x="2715772" y="323587"/>
                    <a:pt x="2694756" y="323587"/>
                  </a:cubicBezTo>
                  <a:lnTo>
                    <a:pt x="38053" y="323587"/>
                  </a:lnTo>
                  <a:cubicBezTo>
                    <a:pt x="17037" y="323587"/>
                    <a:pt x="0" y="306551"/>
                    <a:pt x="0" y="285535"/>
                  </a:cubicBezTo>
                  <a:lnTo>
                    <a:pt x="0" y="38053"/>
                  </a:lnTo>
                  <a:cubicBezTo>
                    <a:pt x="0" y="17037"/>
                    <a:pt x="17037" y="0"/>
                    <a:pt x="38053" y="0"/>
                  </a:cubicBezTo>
                  <a:close/>
                </a:path>
              </a:pathLst>
            </a:custGeom>
            <a:solidFill>
              <a:srgbClr val="607274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2732809" cy="3616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673934" y="7718945"/>
            <a:ext cx="4032408" cy="1228620"/>
            <a:chOff x="0" y="0"/>
            <a:chExt cx="1062033" cy="323587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62034" cy="323587"/>
            </a:xfrm>
            <a:custGeom>
              <a:avLst/>
              <a:gdLst/>
              <a:ahLst/>
              <a:cxnLst/>
              <a:rect r="r" b="b" t="t" l="l"/>
              <a:pathLst>
                <a:path h="323587" w="1062034">
                  <a:moveTo>
                    <a:pt x="97916" y="0"/>
                  </a:moveTo>
                  <a:lnTo>
                    <a:pt x="964117" y="0"/>
                  </a:lnTo>
                  <a:cubicBezTo>
                    <a:pt x="1018195" y="0"/>
                    <a:pt x="1062034" y="43839"/>
                    <a:pt x="1062034" y="97916"/>
                  </a:cubicBezTo>
                  <a:lnTo>
                    <a:pt x="1062034" y="225671"/>
                  </a:lnTo>
                  <a:cubicBezTo>
                    <a:pt x="1062034" y="279749"/>
                    <a:pt x="1018195" y="323587"/>
                    <a:pt x="964117" y="323587"/>
                  </a:cubicBezTo>
                  <a:lnTo>
                    <a:pt x="97916" y="323587"/>
                  </a:lnTo>
                  <a:cubicBezTo>
                    <a:pt x="43839" y="323587"/>
                    <a:pt x="0" y="279749"/>
                    <a:pt x="0" y="225671"/>
                  </a:cubicBezTo>
                  <a:lnTo>
                    <a:pt x="0" y="97916"/>
                  </a:lnTo>
                  <a:cubicBezTo>
                    <a:pt x="0" y="43839"/>
                    <a:pt x="43839" y="0"/>
                    <a:pt x="97916" y="0"/>
                  </a:cubicBezTo>
                  <a:close/>
                </a:path>
              </a:pathLst>
            </a:custGeom>
            <a:solidFill>
              <a:srgbClr val="C1935F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062033" cy="3616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1673934" y="478939"/>
            <a:ext cx="11192542" cy="24854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05"/>
              </a:lnSpc>
            </a:pPr>
            <a:r>
              <a:rPr lang="en-US" sz="7147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FROM EDUCATION TO DATA MANAGEMENT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154908" y="4768083"/>
            <a:ext cx="3070460" cy="7773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95"/>
              </a:lnSpc>
            </a:pPr>
            <a:r>
              <a:rPr lang="en-US" sz="2282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Data Quality Assessment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297460" y="4814830"/>
            <a:ext cx="7218183" cy="7306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9"/>
              </a:lnSpc>
            </a:pPr>
            <a:r>
              <a:rPr lang="en-US" sz="2889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Effectively rating the quality of LLM output (clarity, correctness, readability)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2443493" y="6449463"/>
            <a:ext cx="2493291" cy="4880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73"/>
              </a:lnSpc>
            </a:pPr>
            <a:r>
              <a:rPr lang="en-US" sz="291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Robustness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6297460" y="6407169"/>
            <a:ext cx="7444711" cy="7306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9"/>
              </a:lnSpc>
            </a:pPr>
            <a:r>
              <a:rPr lang="en-US" sz="2889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How do models handle noisy, incomplete, or misleading data?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2058714" y="8134507"/>
            <a:ext cx="3262850" cy="3786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07"/>
              </a:lnSpc>
            </a:pPr>
            <a:r>
              <a:rPr lang="en-US" sz="2907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Error Handling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6297460" y="7959277"/>
            <a:ext cx="7444711" cy="7398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93"/>
              </a:lnSpc>
            </a:pPr>
            <a:r>
              <a:rPr lang="en-US" sz="2893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Can they detect and correct incorrect or missing data?</a:t>
            </a:r>
          </a:p>
        </p:txBody>
      </p:sp>
      <p:sp>
        <p:nvSpPr>
          <p:cNvPr name="Freeform 27" id="27"/>
          <p:cNvSpPr/>
          <p:nvPr/>
        </p:nvSpPr>
        <p:spPr>
          <a:xfrm flipH="false" flipV="false" rot="0">
            <a:off x="15859093" y="5999639"/>
            <a:ext cx="4069095" cy="4287361"/>
          </a:xfrm>
          <a:custGeom>
            <a:avLst/>
            <a:gdLst/>
            <a:ahLst/>
            <a:cxnLst/>
            <a:rect r="r" b="b" t="t" l="l"/>
            <a:pathLst>
              <a:path h="4287361" w="4069095">
                <a:moveTo>
                  <a:pt x="0" y="0"/>
                </a:moveTo>
                <a:lnTo>
                  <a:pt x="4069095" y="0"/>
                </a:lnTo>
                <a:lnTo>
                  <a:pt x="4069095" y="4287361"/>
                </a:lnTo>
                <a:lnTo>
                  <a:pt x="0" y="428736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1844085" y="3202705"/>
            <a:ext cx="12652933" cy="785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0"/>
              </a:lnSpc>
            </a:pPr>
            <a:r>
              <a:rPr lang="en-US" sz="2243" i="true" spc="264">
                <a:solidFill>
                  <a:srgbClr val="000000"/>
                </a:solidFill>
                <a:latin typeface="Nunito Italics"/>
                <a:ea typeface="Nunito Italics"/>
                <a:cs typeface="Nunito Italics"/>
                <a:sym typeface="Nunito Italics"/>
              </a:rPr>
              <a:t>By comparing three models across a variety of altered inputs,</a:t>
            </a:r>
          </a:p>
          <a:p>
            <a:pPr algn="l">
              <a:lnSpc>
                <a:spcPts val="3140"/>
              </a:lnSpc>
            </a:pPr>
            <a:r>
              <a:rPr lang="en-US" sz="2243" i="true" spc="264">
                <a:solidFill>
                  <a:srgbClr val="000000"/>
                </a:solidFill>
                <a:latin typeface="Nunito Italics"/>
                <a:ea typeface="Nunito Italics"/>
                <a:cs typeface="Nunito Italics"/>
                <a:sym typeface="Nunito Italics"/>
              </a:rPr>
              <a:t>this project investigates: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82451" y="2669504"/>
            <a:ext cx="15186374" cy="6010729"/>
            <a:chOff x="0" y="0"/>
            <a:chExt cx="3999703" cy="158307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999703" cy="1583073"/>
            </a:xfrm>
            <a:custGeom>
              <a:avLst/>
              <a:gdLst/>
              <a:ahLst/>
              <a:cxnLst/>
              <a:rect r="r" b="b" t="t" l="l"/>
              <a:pathLst>
                <a:path h="1583073" w="3999703">
                  <a:moveTo>
                    <a:pt x="25999" y="0"/>
                  </a:moveTo>
                  <a:lnTo>
                    <a:pt x="3973704" y="0"/>
                  </a:lnTo>
                  <a:cubicBezTo>
                    <a:pt x="3988063" y="0"/>
                    <a:pt x="3999703" y="11640"/>
                    <a:pt x="3999703" y="25999"/>
                  </a:cubicBezTo>
                  <a:lnTo>
                    <a:pt x="3999703" y="1557073"/>
                  </a:lnTo>
                  <a:cubicBezTo>
                    <a:pt x="3999703" y="1563969"/>
                    <a:pt x="3996964" y="1570582"/>
                    <a:pt x="3992088" y="1575458"/>
                  </a:cubicBezTo>
                  <a:cubicBezTo>
                    <a:pt x="3987212" y="1580334"/>
                    <a:pt x="3980599" y="1583073"/>
                    <a:pt x="3973704" y="1583073"/>
                  </a:cubicBezTo>
                  <a:lnTo>
                    <a:pt x="25999" y="1583073"/>
                  </a:lnTo>
                  <a:cubicBezTo>
                    <a:pt x="11640" y="1583073"/>
                    <a:pt x="0" y="1571432"/>
                    <a:pt x="0" y="1557073"/>
                  </a:cubicBezTo>
                  <a:lnTo>
                    <a:pt x="0" y="25999"/>
                  </a:lnTo>
                  <a:cubicBezTo>
                    <a:pt x="0" y="11640"/>
                    <a:pt x="11640" y="0"/>
                    <a:pt x="25999" y="0"/>
                  </a:cubicBezTo>
                  <a:close/>
                </a:path>
              </a:pathLst>
            </a:custGeom>
            <a:solidFill>
              <a:srgbClr val="60727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3999703" cy="16211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557229" y="1254956"/>
            <a:ext cx="15173542" cy="1221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05"/>
              </a:lnSpc>
            </a:pPr>
            <a:r>
              <a:rPr lang="en-US" sz="7147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TECHNICAL CHALLENGES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02583" y="3294034"/>
            <a:ext cx="15656717" cy="46616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66923" indent="-333461" lvl="1">
              <a:lnSpc>
                <a:spcPts val="3706"/>
              </a:lnSpc>
              <a:buFont typeface="Arial"/>
              <a:buChar char="•"/>
            </a:pPr>
            <a:r>
              <a:rPr lang="en-US" sz="3089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Human-language variability → inconsistent interpretations.</a:t>
            </a:r>
          </a:p>
          <a:p>
            <a:pPr algn="l">
              <a:lnSpc>
                <a:spcPts val="3706"/>
              </a:lnSpc>
            </a:pPr>
          </a:p>
          <a:p>
            <a:pPr algn="l" marL="666923" indent="-333461" lvl="1">
              <a:lnSpc>
                <a:spcPts val="3706"/>
              </a:lnSpc>
              <a:buFont typeface="Arial"/>
              <a:buChar char="•"/>
            </a:pPr>
            <a:r>
              <a:rPr lang="en-US" sz="3089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Measuring “error detection” when outputs vary in style.</a:t>
            </a:r>
          </a:p>
          <a:p>
            <a:pPr algn="l">
              <a:lnSpc>
                <a:spcPts val="3706"/>
              </a:lnSpc>
            </a:pPr>
          </a:p>
          <a:p>
            <a:pPr algn="l" marL="666923" indent="-333461" lvl="1">
              <a:lnSpc>
                <a:spcPts val="3706"/>
              </a:lnSpc>
              <a:buFont typeface="Arial"/>
              <a:buChar char="•"/>
            </a:pPr>
            <a:r>
              <a:rPr lang="en-US" sz="3089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Determining whether the model </a:t>
            </a:r>
            <a:r>
              <a:rPr lang="en-US" sz="3089" i="true">
                <a:solidFill>
                  <a:srgbClr val="FFFFFF"/>
                </a:solidFill>
                <a:latin typeface="Nunito Italics"/>
                <a:ea typeface="Nunito Italics"/>
                <a:cs typeface="Nunito Italics"/>
                <a:sym typeface="Nunito Italics"/>
              </a:rPr>
              <a:t>recognized</a:t>
            </a:r>
            <a:r>
              <a:rPr lang="en-US" sz="3089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 a false premise.</a:t>
            </a:r>
          </a:p>
          <a:p>
            <a:pPr algn="l">
              <a:lnSpc>
                <a:spcPts val="3706"/>
              </a:lnSpc>
            </a:pPr>
          </a:p>
          <a:p>
            <a:pPr algn="l" marL="666923" indent="-333461" lvl="1">
              <a:lnSpc>
                <a:spcPts val="3706"/>
              </a:lnSpc>
              <a:buFont typeface="Arial"/>
              <a:buChar char="•"/>
            </a:pPr>
            <a:r>
              <a:rPr lang="en-US" sz="3089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Quantifying readability for specific age or grade levels.</a:t>
            </a:r>
          </a:p>
          <a:p>
            <a:pPr algn="l">
              <a:lnSpc>
                <a:spcPts val="3706"/>
              </a:lnSpc>
            </a:pPr>
          </a:p>
          <a:p>
            <a:pPr algn="l" marL="666923" indent="-333461" lvl="1">
              <a:lnSpc>
                <a:spcPts val="3706"/>
              </a:lnSpc>
              <a:buFont typeface="Arial"/>
              <a:buChar char="•"/>
            </a:pPr>
            <a:r>
              <a:rPr lang="en-US" sz="3089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Maintaining zero-shot fairness across models.</a:t>
            </a:r>
          </a:p>
          <a:p>
            <a:pPr algn="l">
              <a:lnSpc>
                <a:spcPts val="3706"/>
              </a:lnSpc>
            </a:pP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6930346" y="2669504"/>
            <a:ext cx="3460245" cy="3645852"/>
          </a:xfrm>
          <a:custGeom>
            <a:avLst/>
            <a:gdLst/>
            <a:ahLst/>
            <a:cxnLst/>
            <a:rect r="r" b="b" t="t" l="l"/>
            <a:pathLst>
              <a:path h="3645852" w="3460245">
                <a:moveTo>
                  <a:pt x="0" y="0"/>
                </a:moveTo>
                <a:lnTo>
                  <a:pt x="3460245" y="0"/>
                </a:lnTo>
                <a:lnTo>
                  <a:pt x="3460245" y="3645852"/>
                </a:lnTo>
                <a:lnTo>
                  <a:pt x="0" y="36458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82451" y="2669504"/>
            <a:ext cx="15186374" cy="6010729"/>
            <a:chOff x="0" y="0"/>
            <a:chExt cx="3999703" cy="158307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999703" cy="1583073"/>
            </a:xfrm>
            <a:custGeom>
              <a:avLst/>
              <a:gdLst/>
              <a:ahLst/>
              <a:cxnLst/>
              <a:rect r="r" b="b" t="t" l="l"/>
              <a:pathLst>
                <a:path h="1583073" w="3999703">
                  <a:moveTo>
                    <a:pt x="25999" y="0"/>
                  </a:moveTo>
                  <a:lnTo>
                    <a:pt x="3973704" y="0"/>
                  </a:lnTo>
                  <a:cubicBezTo>
                    <a:pt x="3988063" y="0"/>
                    <a:pt x="3999703" y="11640"/>
                    <a:pt x="3999703" y="25999"/>
                  </a:cubicBezTo>
                  <a:lnTo>
                    <a:pt x="3999703" y="1557073"/>
                  </a:lnTo>
                  <a:cubicBezTo>
                    <a:pt x="3999703" y="1563969"/>
                    <a:pt x="3996964" y="1570582"/>
                    <a:pt x="3992088" y="1575458"/>
                  </a:cubicBezTo>
                  <a:cubicBezTo>
                    <a:pt x="3987212" y="1580334"/>
                    <a:pt x="3980599" y="1583073"/>
                    <a:pt x="3973704" y="1583073"/>
                  </a:cubicBezTo>
                  <a:lnTo>
                    <a:pt x="25999" y="1583073"/>
                  </a:lnTo>
                  <a:cubicBezTo>
                    <a:pt x="11640" y="1583073"/>
                    <a:pt x="0" y="1571432"/>
                    <a:pt x="0" y="1557073"/>
                  </a:cubicBezTo>
                  <a:lnTo>
                    <a:pt x="0" y="25999"/>
                  </a:lnTo>
                  <a:cubicBezTo>
                    <a:pt x="0" y="11640"/>
                    <a:pt x="11640" y="0"/>
                    <a:pt x="25999" y="0"/>
                  </a:cubicBezTo>
                  <a:close/>
                </a:path>
              </a:pathLst>
            </a:custGeom>
            <a:solidFill>
              <a:srgbClr val="60727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3999703" cy="16211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557229" y="1254956"/>
            <a:ext cx="15173542" cy="1221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05"/>
              </a:lnSpc>
            </a:pPr>
            <a:r>
              <a:rPr lang="en-US" sz="7147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ZERO-SHOT TESTING SETUP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02583" y="3294034"/>
            <a:ext cx="14807796" cy="51269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66923" indent="-333461" lvl="1">
              <a:lnSpc>
                <a:spcPts val="3706"/>
              </a:lnSpc>
              <a:buFont typeface="Arial"/>
              <a:buChar char="•"/>
            </a:pPr>
            <a:r>
              <a:rPr lang="en-US" sz="3089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Zero-shot: models are tested with no prior examples or fine-tuning.</a:t>
            </a:r>
          </a:p>
          <a:p>
            <a:pPr algn="l">
              <a:lnSpc>
                <a:spcPts val="3706"/>
              </a:lnSpc>
            </a:pPr>
          </a:p>
          <a:p>
            <a:pPr algn="l" marL="666923" indent="-333461" lvl="1">
              <a:lnSpc>
                <a:spcPts val="3706"/>
              </a:lnSpc>
              <a:buFont typeface="Arial"/>
              <a:buChar char="•"/>
            </a:pPr>
            <a:r>
              <a:rPr lang="en-US" sz="3089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En</a:t>
            </a:r>
            <a:r>
              <a:rPr lang="en-US" sz="3089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sures fair, unbiased comparison across GPT-4, Claude 1, and Gemini.</a:t>
            </a:r>
          </a:p>
          <a:p>
            <a:pPr algn="l">
              <a:lnSpc>
                <a:spcPts val="3706"/>
              </a:lnSpc>
            </a:pPr>
          </a:p>
          <a:p>
            <a:pPr algn="l" marL="666923" indent="-333461" lvl="1">
              <a:lnSpc>
                <a:spcPts val="3706"/>
              </a:lnSpc>
              <a:buFont typeface="Arial"/>
              <a:buChar char="•"/>
            </a:pPr>
            <a:r>
              <a:rPr lang="en-US" sz="3089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R</a:t>
            </a:r>
            <a:r>
              <a:rPr lang="en-US" sz="3089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eveals how models natu</a:t>
            </a:r>
            <a:r>
              <a:rPr lang="en-US" sz="3089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r</a:t>
            </a:r>
            <a:r>
              <a:rPr lang="en-US" sz="3089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ally </a:t>
            </a:r>
            <a:r>
              <a:rPr lang="en-US" sz="3089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i</a:t>
            </a:r>
            <a:r>
              <a:rPr lang="en-US" sz="3089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nterpr</a:t>
            </a:r>
            <a:r>
              <a:rPr lang="en-US" sz="3089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e</a:t>
            </a:r>
            <a:r>
              <a:rPr lang="en-US" sz="3089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t and reason without conditioning.</a:t>
            </a:r>
          </a:p>
          <a:p>
            <a:pPr algn="l">
              <a:lnSpc>
                <a:spcPts val="3706"/>
              </a:lnSpc>
            </a:pPr>
          </a:p>
          <a:p>
            <a:pPr algn="l" marL="666923" indent="-333461" lvl="1">
              <a:lnSpc>
                <a:spcPts val="3706"/>
              </a:lnSpc>
              <a:buFont typeface="Arial"/>
              <a:buChar char="•"/>
            </a:pPr>
            <a:r>
              <a:rPr lang="en-US" sz="3089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Tasks derived from previous undergraduate algorithm assignments.</a:t>
            </a:r>
          </a:p>
          <a:p>
            <a:pPr algn="l">
              <a:lnSpc>
                <a:spcPts val="3706"/>
              </a:lnSpc>
            </a:pPr>
          </a:p>
          <a:p>
            <a:pPr algn="l" marL="666923" indent="-333461" lvl="1">
              <a:lnSpc>
                <a:spcPts val="3706"/>
              </a:lnSpc>
              <a:buFont typeface="Arial"/>
              <a:buChar char="•"/>
            </a:pPr>
            <a:r>
              <a:rPr lang="en-US" sz="3089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E</a:t>
            </a:r>
            <a:r>
              <a:rPr lang="en-US" sz="3089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ach prompt variation tests a distinct dimension: clarity, completeness, correctness, and audience level.</a:t>
            </a:r>
          </a:p>
          <a:p>
            <a:pPr algn="l">
              <a:lnSpc>
                <a:spcPts val="3706"/>
              </a:lnSpc>
            </a:pP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6930346" y="2669504"/>
            <a:ext cx="3460245" cy="3645852"/>
          </a:xfrm>
          <a:custGeom>
            <a:avLst/>
            <a:gdLst/>
            <a:ahLst/>
            <a:cxnLst/>
            <a:rect r="r" b="b" t="t" l="l"/>
            <a:pathLst>
              <a:path h="3645852" w="3460245">
                <a:moveTo>
                  <a:pt x="0" y="0"/>
                </a:moveTo>
                <a:lnTo>
                  <a:pt x="3460245" y="0"/>
                </a:lnTo>
                <a:lnTo>
                  <a:pt x="3460245" y="3645852"/>
                </a:lnTo>
                <a:lnTo>
                  <a:pt x="0" y="36458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120885" y="3942439"/>
            <a:ext cx="10376133" cy="1228620"/>
            <a:chOff x="0" y="0"/>
            <a:chExt cx="2732809" cy="32358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732809" cy="323587"/>
            </a:xfrm>
            <a:custGeom>
              <a:avLst/>
              <a:gdLst/>
              <a:ahLst/>
              <a:cxnLst/>
              <a:rect r="r" b="b" t="t" l="l"/>
              <a:pathLst>
                <a:path h="323587" w="2732809">
                  <a:moveTo>
                    <a:pt x="38053" y="0"/>
                  </a:moveTo>
                  <a:lnTo>
                    <a:pt x="2694756" y="0"/>
                  </a:lnTo>
                  <a:cubicBezTo>
                    <a:pt x="2715772" y="0"/>
                    <a:pt x="2732809" y="17037"/>
                    <a:pt x="2732809" y="38053"/>
                  </a:cubicBezTo>
                  <a:lnTo>
                    <a:pt x="2732809" y="285535"/>
                  </a:lnTo>
                  <a:cubicBezTo>
                    <a:pt x="2732809" y="306551"/>
                    <a:pt x="2715772" y="323587"/>
                    <a:pt x="2694756" y="323587"/>
                  </a:cubicBezTo>
                  <a:lnTo>
                    <a:pt x="38053" y="323587"/>
                  </a:lnTo>
                  <a:cubicBezTo>
                    <a:pt x="17037" y="323587"/>
                    <a:pt x="0" y="306551"/>
                    <a:pt x="0" y="285535"/>
                  </a:cubicBezTo>
                  <a:lnTo>
                    <a:pt x="0" y="38053"/>
                  </a:lnTo>
                  <a:cubicBezTo>
                    <a:pt x="0" y="17037"/>
                    <a:pt x="17037" y="0"/>
                    <a:pt x="38053" y="0"/>
                  </a:cubicBezTo>
                  <a:close/>
                </a:path>
              </a:pathLst>
            </a:custGeom>
            <a:solidFill>
              <a:srgbClr val="60727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732809" cy="3616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73934" y="3942439"/>
            <a:ext cx="4032408" cy="1228620"/>
            <a:chOff x="0" y="0"/>
            <a:chExt cx="1062033" cy="32358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62034" cy="323587"/>
            </a:xfrm>
            <a:custGeom>
              <a:avLst/>
              <a:gdLst/>
              <a:ahLst/>
              <a:cxnLst/>
              <a:rect r="r" b="b" t="t" l="l"/>
              <a:pathLst>
                <a:path h="323587" w="1062034">
                  <a:moveTo>
                    <a:pt x="97916" y="0"/>
                  </a:moveTo>
                  <a:lnTo>
                    <a:pt x="964117" y="0"/>
                  </a:lnTo>
                  <a:cubicBezTo>
                    <a:pt x="1018195" y="0"/>
                    <a:pt x="1062034" y="43839"/>
                    <a:pt x="1062034" y="97916"/>
                  </a:cubicBezTo>
                  <a:lnTo>
                    <a:pt x="1062034" y="225671"/>
                  </a:lnTo>
                  <a:cubicBezTo>
                    <a:pt x="1062034" y="279749"/>
                    <a:pt x="1018195" y="323587"/>
                    <a:pt x="964117" y="323587"/>
                  </a:cubicBezTo>
                  <a:lnTo>
                    <a:pt x="97916" y="323587"/>
                  </a:lnTo>
                  <a:cubicBezTo>
                    <a:pt x="43839" y="323587"/>
                    <a:pt x="0" y="279749"/>
                    <a:pt x="0" y="225671"/>
                  </a:cubicBezTo>
                  <a:lnTo>
                    <a:pt x="0" y="97916"/>
                  </a:lnTo>
                  <a:cubicBezTo>
                    <a:pt x="0" y="43839"/>
                    <a:pt x="43839" y="0"/>
                    <a:pt x="97916" y="0"/>
                  </a:cubicBezTo>
                  <a:close/>
                </a:path>
              </a:pathLst>
            </a:custGeom>
            <a:solidFill>
              <a:srgbClr val="C1935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062033" cy="3616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844085" y="5385329"/>
            <a:ext cx="12652933" cy="1228620"/>
            <a:chOff x="0" y="0"/>
            <a:chExt cx="3332460" cy="32358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332460" cy="323587"/>
            </a:xfrm>
            <a:custGeom>
              <a:avLst/>
              <a:gdLst/>
              <a:ahLst/>
              <a:cxnLst/>
              <a:rect r="r" b="b" t="t" l="l"/>
              <a:pathLst>
                <a:path h="323587" w="3332460">
                  <a:moveTo>
                    <a:pt x="31205" y="0"/>
                  </a:moveTo>
                  <a:lnTo>
                    <a:pt x="3301255" y="0"/>
                  </a:lnTo>
                  <a:cubicBezTo>
                    <a:pt x="3318489" y="0"/>
                    <a:pt x="3332460" y="13971"/>
                    <a:pt x="3332460" y="31205"/>
                  </a:cubicBezTo>
                  <a:lnTo>
                    <a:pt x="3332460" y="292382"/>
                  </a:lnTo>
                  <a:cubicBezTo>
                    <a:pt x="3332460" y="309616"/>
                    <a:pt x="3318489" y="323587"/>
                    <a:pt x="3301255" y="323587"/>
                  </a:cubicBezTo>
                  <a:lnTo>
                    <a:pt x="31205" y="323587"/>
                  </a:lnTo>
                  <a:cubicBezTo>
                    <a:pt x="13971" y="323587"/>
                    <a:pt x="0" y="309616"/>
                    <a:pt x="0" y="292382"/>
                  </a:cubicBezTo>
                  <a:lnTo>
                    <a:pt x="0" y="31205"/>
                  </a:lnTo>
                  <a:cubicBezTo>
                    <a:pt x="0" y="13971"/>
                    <a:pt x="13971" y="0"/>
                    <a:pt x="31205" y="0"/>
                  </a:cubicBezTo>
                  <a:close/>
                </a:path>
              </a:pathLst>
            </a:custGeom>
            <a:solidFill>
              <a:srgbClr val="607274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3332460" cy="3616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844085" y="6914699"/>
            <a:ext cx="12652933" cy="1228620"/>
            <a:chOff x="0" y="0"/>
            <a:chExt cx="3332460" cy="32358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332460" cy="323587"/>
            </a:xfrm>
            <a:custGeom>
              <a:avLst/>
              <a:gdLst/>
              <a:ahLst/>
              <a:cxnLst/>
              <a:rect r="r" b="b" t="t" l="l"/>
              <a:pathLst>
                <a:path h="323587" w="3332460">
                  <a:moveTo>
                    <a:pt x="31205" y="0"/>
                  </a:moveTo>
                  <a:lnTo>
                    <a:pt x="3301255" y="0"/>
                  </a:lnTo>
                  <a:cubicBezTo>
                    <a:pt x="3318489" y="0"/>
                    <a:pt x="3332460" y="13971"/>
                    <a:pt x="3332460" y="31205"/>
                  </a:cubicBezTo>
                  <a:lnTo>
                    <a:pt x="3332460" y="292382"/>
                  </a:lnTo>
                  <a:cubicBezTo>
                    <a:pt x="3332460" y="309616"/>
                    <a:pt x="3318489" y="323587"/>
                    <a:pt x="3301255" y="323587"/>
                  </a:cubicBezTo>
                  <a:lnTo>
                    <a:pt x="31205" y="323587"/>
                  </a:lnTo>
                  <a:cubicBezTo>
                    <a:pt x="13971" y="323587"/>
                    <a:pt x="0" y="309616"/>
                    <a:pt x="0" y="292382"/>
                  </a:cubicBezTo>
                  <a:lnTo>
                    <a:pt x="0" y="31205"/>
                  </a:lnTo>
                  <a:cubicBezTo>
                    <a:pt x="0" y="13971"/>
                    <a:pt x="13971" y="0"/>
                    <a:pt x="31205" y="0"/>
                  </a:cubicBezTo>
                  <a:close/>
                </a:path>
              </a:pathLst>
            </a:custGeom>
            <a:solidFill>
              <a:srgbClr val="607274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3332460" cy="3616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673934" y="478939"/>
            <a:ext cx="11192542" cy="24854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05"/>
              </a:lnSpc>
            </a:pPr>
            <a:r>
              <a:rPr lang="en-US" sz="7147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WHY GRAPH ALGORITHMS?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972177" y="4337548"/>
            <a:ext cx="3435923" cy="434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75"/>
              </a:lnSpc>
            </a:pPr>
            <a:r>
              <a:rPr lang="en-US" sz="2553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Algorithms chosen: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039320" y="4246461"/>
            <a:ext cx="7867358" cy="7306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9"/>
              </a:lnSpc>
            </a:pPr>
            <a:r>
              <a:rPr lang="en-US" sz="2889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BFS → DFS → Cycle Detection → Topological Sort → Tarjan’s 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731066" y="5848636"/>
            <a:ext cx="11175613" cy="3686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9"/>
              </a:lnSpc>
            </a:pPr>
            <a:r>
              <a:rPr lang="en-US" sz="2889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Gradual conceptual complexity, increasing course difficulty.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731066" y="7290224"/>
            <a:ext cx="10784577" cy="373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93"/>
              </a:lnSpc>
            </a:pPr>
            <a:r>
              <a:rPr lang="en-US" sz="2893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Strong analogical potential + Zero-shot-CoT (Chain of Thought)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15859093" y="5999639"/>
            <a:ext cx="4069095" cy="4287361"/>
          </a:xfrm>
          <a:custGeom>
            <a:avLst/>
            <a:gdLst/>
            <a:ahLst/>
            <a:cxnLst/>
            <a:rect r="r" b="b" t="t" l="l"/>
            <a:pathLst>
              <a:path h="4287361" w="4069095">
                <a:moveTo>
                  <a:pt x="0" y="0"/>
                </a:moveTo>
                <a:lnTo>
                  <a:pt x="4069095" y="0"/>
                </a:lnTo>
                <a:lnTo>
                  <a:pt x="4069095" y="4287361"/>
                </a:lnTo>
                <a:lnTo>
                  <a:pt x="0" y="428736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844085" y="3135471"/>
            <a:ext cx="12652933" cy="3878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0"/>
              </a:lnSpc>
            </a:pPr>
            <a:r>
              <a:rPr lang="en-US" sz="2243" i="true" spc="264">
                <a:solidFill>
                  <a:srgbClr val="000000"/>
                </a:solidFill>
                <a:latin typeface="Nunito Italics"/>
                <a:ea typeface="Nunito Italics"/>
                <a:cs typeface="Nunito Italics"/>
                <a:sym typeface="Nunito Italics"/>
              </a:rPr>
              <a:t>Algorithm Tasks as a Controlled Difficulty Scale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844085" y="8571945"/>
            <a:ext cx="12652933" cy="1228620"/>
            <a:chOff x="0" y="0"/>
            <a:chExt cx="3332460" cy="323587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3332460" cy="323587"/>
            </a:xfrm>
            <a:custGeom>
              <a:avLst/>
              <a:gdLst/>
              <a:ahLst/>
              <a:cxnLst/>
              <a:rect r="r" b="b" t="t" l="l"/>
              <a:pathLst>
                <a:path h="323587" w="3332460">
                  <a:moveTo>
                    <a:pt x="31205" y="0"/>
                  </a:moveTo>
                  <a:lnTo>
                    <a:pt x="3301255" y="0"/>
                  </a:lnTo>
                  <a:cubicBezTo>
                    <a:pt x="3318489" y="0"/>
                    <a:pt x="3332460" y="13971"/>
                    <a:pt x="3332460" y="31205"/>
                  </a:cubicBezTo>
                  <a:lnTo>
                    <a:pt x="3332460" y="292382"/>
                  </a:lnTo>
                  <a:cubicBezTo>
                    <a:pt x="3332460" y="309616"/>
                    <a:pt x="3318489" y="323587"/>
                    <a:pt x="3301255" y="323587"/>
                  </a:cubicBezTo>
                  <a:lnTo>
                    <a:pt x="31205" y="323587"/>
                  </a:lnTo>
                  <a:cubicBezTo>
                    <a:pt x="13971" y="323587"/>
                    <a:pt x="0" y="309616"/>
                    <a:pt x="0" y="292382"/>
                  </a:cubicBezTo>
                  <a:lnTo>
                    <a:pt x="0" y="31205"/>
                  </a:lnTo>
                  <a:cubicBezTo>
                    <a:pt x="0" y="13971"/>
                    <a:pt x="13971" y="0"/>
                    <a:pt x="31205" y="0"/>
                  </a:cubicBezTo>
                  <a:close/>
                </a:path>
              </a:pathLst>
            </a:custGeom>
            <a:solidFill>
              <a:srgbClr val="607274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3332460" cy="3616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2731066" y="8884965"/>
            <a:ext cx="10784577" cy="7398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93"/>
              </a:lnSpc>
            </a:pPr>
            <a:r>
              <a:rPr lang="en-US" sz="2893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Allows testing if models explain abstract ideas clearly across grade levels.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82451" y="2669504"/>
            <a:ext cx="15186374" cy="6588796"/>
            <a:chOff x="0" y="0"/>
            <a:chExt cx="3999703" cy="173532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999703" cy="1735321"/>
            </a:xfrm>
            <a:custGeom>
              <a:avLst/>
              <a:gdLst/>
              <a:ahLst/>
              <a:cxnLst/>
              <a:rect r="r" b="b" t="t" l="l"/>
              <a:pathLst>
                <a:path h="1735321" w="3999703">
                  <a:moveTo>
                    <a:pt x="25999" y="0"/>
                  </a:moveTo>
                  <a:lnTo>
                    <a:pt x="3973704" y="0"/>
                  </a:lnTo>
                  <a:cubicBezTo>
                    <a:pt x="3988063" y="0"/>
                    <a:pt x="3999703" y="11640"/>
                    <a:pt x="3999703" y="25999"/>
                  </a:cubicBezTo>
                  <a:lnTo>
                    <a:pt x="3999703" y="1709321"/>
                  </a:lnTo>
                  <a:cubicBezTo>
                    <a:pt x="3999703" y="1723680"/>
                    <a:pt x="3988063" y="1735321"/>
                    <a:pt x="3973704" y="1735321"/>
                  </a:cubicBezTo>
                  <a:lnTo>
                    <a:pt x="25999" y="1735321"/>
                  </a:lnTo>
                  <a:cubicBezTo>
                    <a:pt x="11640" y="1735321"/>
                    <a:pt x="0" y="1723680"/>
                    <a:pt x="0" y="1709321"/>
                  </a:cubicBezTo>
                  <a:lnTo>
                    <a:pt x="0" y="25999"/>
                  </a:lnTo>
                  <a:cubicBezTo>
                    <a:pt x="0" y="11640"/>
                    <a:pt x="11640" y="0"/>
                    <a:pt x="25999" y="0"/>
                  </a:cubicBezTo>
                  <a:close/>
                </a:path>
              </a:pathLst>
            </a:custGeom>
            <a:solidFill>
              <a:srgbClr val="60727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3999703" cy="17734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557229" y="1395052"/>
            <a:ext cx="15924437" cy="10818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805"/>
              </a:lnSpc>
            </a:pPr>
            <a:r>
              <a:rPr lang="en-US" sz="628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EVALUATION: DATA &amp; EXPERIMENTS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02583" y="3294034"/>
            <a:ext cx="14807796" cy="5610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66922" indent="-333461" lvl="1">
              <a:lnSpc>
                <a:spcPts val="3706"/>
              </a:lnSpc>
              <a:buFont typeface="Arial"/>
              <a:buChar char="•"/>
            </a:pPr>
            <a:r>
              <a:rPr lang="en-US" b="true" sz="3089">
                <a:solidFill>
                  <a:srgbClr val="FFFFFF"/>
                </a:solidFill>
                <a:latin typeface="Nunito Bold"/>
                <a:ea typeface="Nunito Bold"/>
                <a:cs typeface="Nunito Bold"/>
                <a:sym typeface="Nunito Bold"/>
              </a:rPr>
              <a:t>Dataset: </a:t>
            </a:r>
            <a:r>
              <a:rPr lang="en-US" sz="3089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Problem bank of 5 graph tasks levels × prompt variations (clean/noisy/incomplete/confidently-wrong).</a:t>
            </a:r>
          </a:p>
          <a:p>
            <a:pPr algn="l">
              <a:lnSpc>
                <a:spcPts val="3706"/>
              </a:lnSpc>
            </a:pPr>
          </a:p>
          <a:p>
            <a:pPr algn="l" marL="666922" indent="-333461" lvl="1">
              <a:lnSpc>
                <a:spcPts val="3706"/>
              </a:lnSpc>
              <a:buFont typeface="Arial"/>
              <a:buChar char="•"/>
            </a:pPr>
            <a:r>
              <a:rPr lang="en-US" b="true" sz="3089">
                <a:solidFill>
                  <a:srgbClr val="FFFFFF"/>
                </a:solidFill>
                <a:latin typeface="Nunito Bold"/>
                <a:ea typeface="Nunito Bold"/>
                <a:cs typeface="Nunito Bold"/>
                <a:sym typeface="Nunito Bold"/>
              </a:rPr>
              <a:t>E</a:t>
            </a:r>
            <a:r>
              <a:rPr lang="en-US" b="true" sz="3089">
                <a:solidFill>
                  <a:srgbClr val="FFFFFF"/>
                </a:solidFill>
                <a:latin typeface="Nunito Bold"/>
                <a:ea typeface="Nunito Bold"/>
                <a:cs typeface="Nunito Bold"/>
                <a:sym typeface="Nunito Bold"/>
              </a:rPr>
              <a:t>valuation Metrics:</a:t>
            </a:r>
          </a:p>
          <a:p>
            <a:pPr algn="l" marL="1333844" indent="-444615" lvl="2">
              <a:lnSpc>
                <a:spcPts val="3706"/>
              </a:lnSpc>
              <a:buFont typeface="Arial"/>
              <a:buChar char="⚬"/>
            </a:pPr>
            <a:r>
              <a:rPr lang="en-US" sz="3089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Correctness (manual grad</a:t>
            </a:r>
            <a:r>
              <a:rPr lang="en-US" sz="3089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i</a:t>
            </a:r>
            <a:r>
              <a:rPr lang="en-US" sz="3089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ng)</a:t>
            </a:r>
          </a:p>
          <a:p>
            <a:pPr algn="l" marL="1333844" indent="-444615" lvl="2">
              <a:lnSpc>
                <a:spcPts val="3706"/>
              </a:lnSpc>
              <a:buFont typeface="Arial"/>
              <a:buChar char="⚬"/>
            </a:pPr>
            <a:r>
              <a:rPr lang="en-US" sz="3089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Error catching rate</a:t>
            </a:r>
          </a:p>
          <a:p>
            <a:pPr algn="l" marL="1333844" indent="-444615" lvl="2">
              <a:lnSpc>
                <a:spcPts val="3706"/>
              </a:lnSpc>
              <a:buFont typeface="Arial"/>
              <a:buChar char="⚬"/>
            </a:pPr>
            <a:r>
              <a:rPr lang="en-US" sz="3089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Readability metrics (Flesch–Kincaid, Fog Index, TTR)</a:t>
            </a:r>
          </a:p>
          <a:p>
            <a:pPr algn="l" marL="1333844" indent="-444615" lvl="2">
              <a:lnSpc>
                <a:spcPts val="3706"/>
              </a:lnSpc>
              <a:buFont typeface="Arial"/>
              <a:buChar char="⚬"/>
            </a:pPr>
            <a:r>
              <a:rPr lang="en-US" sz="3089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Checklist coverage for explanation quality</a:t>
            </a:r>
          </a:p>
          <a:p>
            <a:pPr algn="l">
              <a:lnSpc>
                <a:spcPts val="3706"/>
              </a:lnSpc>
            </a:pPr>
          </a:p>
          <a:p>
            <a:pPr algn="l" marL="666922" indent="-333461" lvl="1">
              <a:lnSpc>
                <a:spcPts val="3706"/>
              </a:lnSpc>
              <a:buFont typeface="Arial"/>
              <a:buChar char="•"/>
            </a:pPr>
            <a:r>
              <a:rPr lang="en-US" b="true" sz="3089">
                <a:solidFill>
                  <a:srgbClr val="FFFFFF"/>
                </a:solidFill>
                <a:latin typeface="Nunito Bold"/>
                <a:ea typeface="Nunito Bold"/>
                <a:cs typeface="Nunito Bold"/>
                <a:sym typeface="Nunito Bold"/>
              </a:rPr>
              <a:t>Experimental Setup:</a:t>
            </a:r>
            <a:r>
              <a:rPr lang="en-US" sz="3089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 Manual conversational input to GPT-4, Claude 1, Gemini responses stored in CVS, Python scripts for scoring.</a:t>
            </a:r>
          </a:p>
          <a:p>
            <a:pPr algn="l">
              <a:lnSpc>
                <a:spcPts val="3706"/>
              </a:lnSpc>
            </a:pP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6930346" y="2669504"/>
            <a:ext cx="3460245" cy="3645852"/>
          </a:xfrm>
          <a:custGeom>
            <a:avLst/>
            <a:gdLst/>
            <a:ahLst/>
            <a:cxnLst/>
            <a:rect r="r" b="b" t="t" l="l"/>
            <a:pathLst>
              <a:path h="3645852" w="3460245">
                <a:moveTo>
                  <a:pt x="0" y="0"/>
                </a:moveTo>
                <a:lnTo>
                  <a:pt x="3460245" y="0"/>
                </a:lnTo>
                <a:lnTo>
                  <a:pt x="3460245" y="3645852"/>
                </a:lnTo>
                <a:lnTo>
                  <a:pt x="0" y="36458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-2322919" y="4670781"/>
            <a:ext cx="3789930" cy="3993221"/>
          </a:xfrm>
          <a:custGeom>
            <a:avLst/>
            <a:gdLst/>
            <a:ahLst/>
            <a:cxnLst/>
            <a:rect r="r" b="b" t="t" l="l"/>
            <a:pathLst>
              <a:path h="3993221" w="3789930">
                <a:moveTo>
                  <a:pt x="3789930" y="0"/>
                </a:moveTo>
                <a:lnTo>
                  <a:pt x="0" y="0"/>
                </a:lnTo>
                <a:lnTo>
                  <a:pt x="0" y="3993221"/>
                </a:lnTo>
                <a:lnTo>
                  <a:pt x="3789930" y="3993221"/>
                </a:lnTo>
                <a:lnTo>
                  <a:pt x="3789930" y="0"/>
                </a:lnTo>
                <a:close/>
              </a:path>
            </a:pathLst>
          </a:custGeom>
          <a:blipFill>
            <a:blip r:embed="rId2">
              <a:alphaModFix amt="4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Table 3" id="3"/>
          <p:cNvGraphicFramePr>
            <a:graphicFrameLocks noGrp="true"/>
          </p:cNvGraphicFramePr>
          <p:nvPr/>
        </p:nvGraphicFramePr>
        <p:xfrm>
          <a:off x="1467011" y="1702109"/>
          <a:ext cx="16116876" cy="8130521"/>
        </p:xfrm>
        <a:graphic>
          <a:graphicData uri="http://schemas.openxmlformats.org/drawingml/2006/table">
            <a:tbl>
              <a:tblPr/>
              <a:tblGrid>
                <a:gridCol w="4029219"/>
                <a:gridCol w="4029219"/>
                <a:gridCol w="4029219"/>
                <a:gridCol w="4029219"/>
              </a:tblGrid>
              <a:tr h="128131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 b="true">
                          <a:solidFill>
                            <a:srgbClr val="000000"/>
                          </a:solidFill>
                          <a:latin typeface="Nunito Bold"/>
                          <a:ea typeface="Nunito Bold"/>
                          <a:cs typeface="Nunito Bold"/>
                          <a:sym typeface="Nunito Bold"/>
                        </a:rPr>
                        <a:t>Parameter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 b="true">
                          <a:solidFill>
                            <a:srgbClr val="000000"/>
                          </a:solidFill>
                          <a:latin typeface="Nunito Bold"/>
                          <a:ea typeface="Nunito Bold"/>
                          <a:cs typeface="Nunito Bold"/>
                          <a:sym typeface="Nunito Bold"/>
                        </a:rPr>
                        <a:t>Variation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 b="true">
                          <a:solidFill>
                            <a:srgbClr val="000000"/>
                          </a:solidFill>
                          <a:latin typeface="Nunito Bold"/>
                          <a:ea typeface="Nunito Bold"/>
                          <a:cs typeface="Nunito Bold"/>
                          <a:sym typeface="Nunito Bold"/>
                        </a:rPr>
                        <a:t>Purpose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 b="true">
                          <a:solidFill>
                            <a:srgbClr val="000000"/>
                          </a:solidFill>
                          <a:latin typeface="Nunito Bold"/>
                          <a:ea typeface="Nunito Bold"/>
                          <a:cs typeface="Nunito Bold"/>
                          <a:sym typeface="Nunito Bold"/>
                        </a:rPr>
                        <a:t>Metric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6825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b="true">
                          <a:solidFill>
                            <a:srgbClr val="000000"/>
                          </a:solidFill>
                          <a:latin typeface="Nunito Bold"/>
                          <a:ea typeface="Nunito Bold"/>
                          <a:cs typeface="Nunito Bold"/>
                          <a:sym typeface="Nunito Bold"/>
                        </a:rPr>
                        <a:t>Cleanliness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Well-formed vs. noisy text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Checks resilience to messy input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Correctness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7023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b="true">
                          <a:solidFill>
                            <a:srgbClr val="000000"/>
                          </a:solidFill>
                          <a:latin typeface="Nunito Bold"/>
                          <a:ea typeface="Nunito Bold"/>
                          <a:cs typeface="Nunito Bold"/>
                          <a:sym typeface="Nunito Bold"/>
                        </a:rPr>
                        <a:t>Completeness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Missing or partial data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Tests inference ability, imputation behaviour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Inference success / missing info detection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7023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b="true">
                          <a:solidFill>
                            <a:srgbClr val="000000"/>
                          </a:solidFill>
                          <a:latin typeface="Nunito Bold"/>
                          <a:ea typeface="Nunito Bold"/>
                          <a:cs typeface="Nunito Bold"/>
                          <a:sym typeface="Nunito Bold"/>
                        </a:rPr>
                        <a:t>Confidently Wrong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I</a:t>
                      </a:r>
                      <a:r>
                        <a:rPr lang="en-US" sz="1899">
                          <a:solidFill>
                            <a:srgbClr val="000000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ncorrect but confident tone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Tests model skepticism / error catching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Detected false claims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7023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b="true">
                          <a:solidFill>
                            <a:srgbClr val="000000"/>
                          </a:solidFill>
                          <a:latin typeface="Nunito Bold"/>
                          <a:ea typeface="Nunito Bold"/>
                          <a:cs typeface="Nunito Bold"/>
                          <a:sym typeface="Nunito Bold"/>
                        </a:rPr>
                        <a:t>Explanation Depth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Short vs. detailed explanation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Tests ability to explain and provide analogies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Checklist of required concepts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7023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b="true">
                          <a:solidFill>
                            <a:srgbClr val="000000"/>
                          </a:solidFill>
                          <a:latin typeface="Nunito Bold"/>
                          <a:ea typeface="Nunito Bold"/>
                          <a:cs typeface="Nunito Bold"/>
                          <a:sym typeface="Nunito Bold"/>
                        </a:rPr>
                        <a:t>Target Audience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Grade 5 → University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Evaluates adaptability of language level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Readability (Flesch–Kincaid, Fog Index)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4" id="4"/>
          <p:cNvSpPr txBox="true"/>
          <p:nvPr/>
        </p:nvSpPr>
        <p:spPr>
          <a:xfrm rot="0">
            <a:off x="1467011" y="300526"/>
            <a:ext cx="14284848" cy="12186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05"/>
              </a:lnSpc>
            </a:pPr>
            <a:r>
              <a:rPr lang="en-US" sz="7147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PARAMETERS AND METRICS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11435" y="1051743"/>
            <a:ext cx="2945447" cy="2507439"/>
            <a:chOff x="0" y="0"/>
            <a:chExt cx="775756" cy="66039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75756" cy="660395"/>
            </a:xfrm>
            <a:custGeom>
              <a:avLst/>
              <a:gdLst/>
              <a:ahLst/>
              <a:cxnLst/>
              <a:rect r="r" b="b" t="t" l="l"/>
              <a:pathLst>
                <a:path h="660395" w="775756">
                  <a:moveTo>
                    <a:pt x="134050" y="0"/>
                  </a:moveTo>
                  <a:lnTo>
                    <a:pt x="641705" y="0"/>
                  </a:lnTo>
                  <a:cubicBezTo>
                    <a:pt x="715739" y="0"/>
                    <a:pt x="775756" y="60016"/>
                    <a:pt x="775756" y="134050"/>
                  </a:cubicBezTo>
                  <a:lnTo>
                    <a:pt x="775756" y="526345"/>
                  </a:lnTo>
                  <a:cubicBezTo>
                    <a:pt x="775756" y="561898"/>
                    <a:pt x="761633" y="595994"/>
                    <a:pt x="736493" y="621133"/>
                  </a:cubicBezTo>
                  <a:cubicBezTo>
                    <a:pt x="711354" y="646272"/>
                    <a:pt x="677258" y="660395"/>
                    <a:pt x="641705" y="660395"/>
                  </a:cubicBezTo>
                  <a:lnTo>
                    <a:pt x="134050" y="660395"/>
                  </a:lnTo>
                  <a:cubicBezTo>
                    <a:pt x="98498" y="660395"/>
                    <a:pt x="64402" y="646272"/>
                    <a:pt x="39262" y="621133"/>
                  </a:cubicBezTo>
                  <a:cubicBezTo>
                    <a:pt x="14123" y="595994"/>
                    <a:pt x="0" y="561898"/>
                    <a:pt x="0" y="526345"/>
                  </a:cubicBezTo>
                  <a:lnTo>
                    <a:pt x="0" y="134050"/>
                  </a:lnTo>
                  <a:cubicBezTo>
                    <a:pt x="0" y="98498"/>
                    <a:pt x="14123" y="64402"/>
                    <a:pt x="39262" y="39262"/>
                  </a:cubicBezTo>
                  <a:cubicBezTo>
                    <a:pt x="64402" y="14123"/>
                    <a:pt x="98498" y="0"/>
                    <a:pt x="134050" y="0"/>
                  </a:cubicBezTo>
                  <a:close/>
                </a:path>
              </a:pathLst>
            </a:custGeom>
            <a:solidFill>
              <a:srgbClr val="C1935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775756" cy="6984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341809" y="1051743"/>
            <a:ext cx="12586857" cy="2507439"/>
            <a:chOff x="0" y="0"/>
            <a:chExt cx="3315057" cy="66039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315057" cy="660395"/>
            </a:xfrm>
            <a:custGeom>
              <a:avLst/>
              <a:gdLst/>
              <a:ahLst/>
              <a:cxnLst/>
              <a:rect r="r" b="b" t="t" l="l"/>
              <a:pathLst>
                <a:path h="660395" w="3315057">
                  <a:moveTo>
                    <a:pt x="31369" y="0"/>
                  </a:moveTo>
                  <a:lnTo>
                    <a:pt x="3283688" y="0"/>
                  </a:lnTo>
                  <a:cubicBezTo>
                    <a:pt x="3301012" y="0"/>
                    <a:pt x="3315057" y="14044"/>
                    <a:pt x="3315057" y="31369"/>
                  </a:cubicBezTo>
                  <a:lnTo>
                    <a:pt x="3315057" y="629026"/>
                  </a:lnTo>
                  <a:cubicBezTo>
                    <a:pt x="3315057" y="646351"/>
                    <a:pt x="3301012" y="660395"/>
                    <a:pt x="3283688" y="660395"/>
                  </a:cubicBezTo>
                  <a:lnTo>
                    <a:pt x="31369" y="660395"/>
                  </a:lnTo>
                  <a:cubicBezTo>
                    <a:pt x="14044" y="660395"/>
                    <a:pt x="0" y="646351"/>
                    <a:pt x="0" y="629026"/>
                  </a:cubicBezTo>
                  <a:lnTo>
                    <a:pt x="0" y="31369"/>
                  </a:lnTo>
                  <a:cubicBezTo>
                    <a:pt x="0" y="14044"/>
                    <a:pt x="14044" y="0"/>
                    <a:pt x="31369" y="0"/>
                  </a:cubicBezTo>
                  <a:close/>
                </a:path>
              </a:pathLst>
            </a:custGeom>
            <a:solidFill>
              <a:srgbClr val="607274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3315057" cy="6984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111435" y="4663168"/>
            <a:ext cx="2963182" cy="2507439"/>
            <a:chOff x="0" y="0"/>
            <a:chExt cx="780426" cy="66039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80426" cy="660395"/>
            </a:xfrm>
            <a:custGeom>
              <a:avLst/>
              <a:gdLst/>
              <a:ahLst/>
              <a:cxnLst/>
              <a:rect r="r" b="b" t="t" l="l"/>
              <a:pathLst>
                <a:path h="660395" w="780426">
                  <a:moveTo>
                    <a:pt x="133248" y="0"/>
                  </a:moveTo>
                  <a:lnTo>
                    <a:pt x="647178" y="0"/>
                  </a:lnTo>
                  <a:cubicBezTo>
                    <a:pt x="720769" y="0"/>
                    <a:pt x="780426" y="59657"/>
                    <a:pt x="780426" y="133248"/>
                  </a:cubicBezTo>
                  <a:lnTo>
                    <a:pt x="780426" y="527148"/>
                  </a:lnTo>
                  <a:cubicBezTo>
                    <a:pt x="780426" y="600738"/>
                    <a:pt x="720769" y="660395"/>
                    <a:pt x="647178" y="660395"/>
                  </a:cubicBezTo>
                  <a:lnTo>
                    <a:pt x="133248" y="660395"/>
                  </a:lnTo>
                  <a:cubicBezTo>
                    <a:pt x="97908" y="660395"/>
                    <a:pt x="64016" y="646357"/>
                    <a:pt x="39027" y="621368"/>
                  </a:cubicBezTo>
                  <a:cubicBezTo>
                    <a:pt x="14039" y="596379"/>
                    <a:pt x="0" y="562487"/>
                    <a:pt x="0" y="527148"/>
                  </a:cubicBezTo>
                  <a:lnTo>
                    <a:pt x="0" y="133248"/>
                  </a:lnTo>
                  <a:cubicBezTo>
                    <a:pt x="0" y="97908"/>
                    <a:pt x="14039" y="64016"/>
                    <a:pt x="39027" y="39027"/>
                  </a:cubicBezTo>
                  <a:cubicBezTo>
                    <a:pt x="64016" y="14039"/>
                    <a:pt x="97908" y="0"/>
                    <a:pt x="133248" y="0"/>
                  </a:cubicBezTo>
                  <a:close/>
                </a:path>
              </a:pathLst>
            </a:custGeom>
            <a:solidFill>
              <a:srgbClr val="C1935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780426" cy="6984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4409256" y="4663168"/>
            <a:ext cx="12451963" cy="2507439"/>
            <a:chOff x="0" y="0"/>
            <a:chExt cx="3279529" cy="66039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279529" cy="660395"/>
            </a:xfrm>
            <a:custGeom>
              <a:avLst/>
              <a:gdLst/>
              <a:ahLst/>
              <a:cxnLst/>
              <a:rect r="r" b="b" t="t" l="l"/>
              <a:pathLst>
                <a:path h="660395" w="3279529">
                  <a:moveTo>
                    <a:pt x="31709" y="0"/>
                  </a:moveTo>
                  <a:lnTo>
                    <a:pt x="3247820" y="0"/>
                  </a:lnTo>
                  <a:cubicBezTo>
                    <a:pt x="3256230" y="0"/>
                    <a:pt x="3264295" y="3341"/>
                    <a:pt x="3270242" y="9287"/>
                  </a:cubicBezTo>
                  <a:cubicBezTo>
                    <a:pt x="3276188" y="15234"/>
                    <a:pt x="3279529" y="23299"/>
                    <a:pt x="3279529" y="31709"/>
                  </a:cubicBezTo>
                  <a:lnTo>
                    <a:pt x="3279529" y="628687"/>
                  </a:lnTo>
                  <a:cubicBezTo>
                    <a:pt x="3279529" y="637096"/>
                    <a:pt x="3276188" y="645162"/>
                    <a:pt x="3270242" y="651108"/>
                  </a:cubicBezTo>
                  <a:cubicBezTo>
                    <a:pt x="3264295" y="657055"/>
                    <a:pt x="3256230" y="660395"/>
                    <a:pt x="3247820" y="660395"/>
                  </a:cubicBezTo>
                  <a:lnTo>
                    <a:pt x="31709" y="660395"/>
                  </a:lnTo>
                  <a:cubicBezTo>
                    <a:pt x="23299" y="660395"/>
                    <a:pt x="15234" y="657055"/>
                    <a:pt x="9287" y="651108"/>
                  </a:cubicBezTo>
                  <a:cubicBezTo>
                    <a:pt x="3341" y="645162"/>
                    <a:pt x="0" y="637096"/>
                    <a:pt x="0" y="628687"/>
                  </a:cubicBezTo>
                  <a:lnTo>
                    <a:pt x="0" y="31709"/>
                  </a:lnTo>
                  <a:cubicBezTo>
                    <a:pt x="0" y="23299"/>
                    <a:pt x="3341" y="15234"/>
                    <a:pt x="9287" y="9287"/>
                  </a:cubicBezTo>
                  <a:cubicBezTo>
                    <a:pt x="15234" y="3341"/>
                    <a:pt x="23299" y="0"/>
                    <a:pt x="31709" y="0"/>
                  </a:cubicBezTo>
                  <a:close/>
                </a:path>
              </a:pathLst>
            </a:custGeom>
            <a:solidFill>
              <a:srgbClr val="607274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3279529" cy="6984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276905" y="8218932"/>
            <a:ext cx="15899660" cy="1016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5"/>
              </a:lnSpc>
            </a:pPr>
            <a:r>
              <a:rPr lang="en-US" sz="6003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IMPACT AND BENEFITS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409256" y="1660976"/>
            <a:ext cx="13017845" cy="14469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3735" indent="-301867" lvl="1">
              <a:lnSpc>
                <a:spcPts val="2796"/>
              </a:lnSpc>
              <a:buFont typeface="Arial"/>
              <a:buChar char="•"/>
            </a:pPr>
            <a:r>
              <a:rPr lang="en-US" sz="2796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Builds a responsible prompting framework for students and educators.</a:t>
            </a:r>
          </a:p>
          <a:p>
            <a:pPr algn="l">
              <a:lnSpc>
                <a:spcPts val="2796"/>
              </a:lnSpc>
            </a:pPr>
          </a:p>
          <a:p>
            <a:pPr algn="l" marL="603735" indent="-301867" lvl="1">
              <a:lnSpc>
                <a:spcPts val="2796"/>
              </a:lnSpc>
              <a:buFont typeface="Arial"/>
              <a:buChar char="•"/>
            </a:pPr>
            <a:r>
              <a:rPr lang="en-US" sz="2796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Reveals how LLMs can explain algorithmic concepts at the right difficulty.</a:t>
            </a:r>
          </a:p>
          <a:p>
            <a:pPr algn="l">
              <a:lnSpc>
                <a:spcPts val="2796"/>
              </a:lnSpc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4663040" y="4986600"/>
            <a:ext cx="12198180" cy="1957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51237" indent="-275619" lvl="1">
              <a:lnSpc>
                <a:spcPts val="2553"/>
              </a:lnSpc>
              <a:buFont typeface="Arial"/>
              <a:buChar char="•"/>
            </a:pPr>
            <a:r>
              <a:rPr lang="en-US" sz="2553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Contributes to understanding data quality, robustness, and error-handling in LLMs.</a:t>
            </a:r>
          </a:p>
          <a:p>
            <a:pPr algn="l">
              <a:lnSpc>
                <a:spcPts val="2553"/>
              </a:lnSpc>
            </a:pPr>
          </a:p>
          <a:p>
            <a:pPr algn="l" marL="551237" indent="-275619" lvl="1">
              <a:lnSpc>
                <a:spcPts val="2553"/>
              </a:lnSpc>
              <a:buFont typeface="Arial"/>
              <a:buChar char="•"/>
            </a:pPr>
            <a:r>
              <a:rPr lang="en-US" sz="2553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Demonstrates how input variability affects model outputs, a challenge in unstructured data systems.</a:t>
            </a:r>
          </a:p>
          <a:p>
            <a:pPr algn="l">
              <a:lnSpc>
                <a:spcPts val="2553"/>
              </a:lnSpc>
            </a:pPr>
          </a:p>
        </p:txBody>
      </p:sp>
      <p:sp>
        <p:nvSpPr>
          <p:cNvPr name="TextBox 17" id="17"/>
          <p:cNvSpPr txBox="true"/>
          <p:nvPr/>
        </p:nvSpPr>
        <p:spPr>
          <a:xfrm rot="0">
            <a:off x="1276905" y="1710992"/>
            <a:ext cx="2779977" cy="11986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08"/>
              </a:lnSpc>
            </a:pPr>
            <a:r>
              <a:rPr lang="en-US" sz="3434" b="true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Educational Impact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19568" y="5321566"/>
            <a:ext cx="2837315" cy="13064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4"/>
              </a:lnSpc>
            </a:pPr>
            <a:r>
              <a:rPr lang="en-US" sz="3434" b="true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Data Management Impact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82451" y="2348795"/>
            <a:ext cx="15186374" cy="7629787"/>
            <a:chOff x="0" y="0"/>
            <a:chExt cx="3999703" cy="200949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999703" cy="2009491"/>
            </a:xfrm>
            <a:custGeom>
              <a:avLst/>
              <a:gdLst/>
              <a:ahLst/>
              <a:cxnLst/>
              <a:rect r="r" b="b" t="t" l="l"/>
              <a:pathLst>
                <a:path h="2009491" w="3999703">
                  <a:moveTo>
                    <a:pt x="25999" y="0"/>
                  </a:moveTo>
                  <a:lnTo>
                    <a:pt x="3973704" y="0"/>
                  </a:lnTo>
                  <a:cubicBezTo>
                    <a:pt x="3988063" y="0"/>
                    <a:pt x="3999703" y="11640"/>
                    <a:pt x="3999703" y="25999"/>
                  </a:cubicBezTo>
                  <a:lnTo>
                    <a:pt x="3999703" y="1983492"/>
                  </a:lnTo>
                  <a:cubicBezTo>
                    <a:pt x="3999703" y="1997851"/>
                    <a:pt x="3988063" y="2009491"/>
                    <a:pt x="3973704" y="2009491"/>
                  </a:cubicBezTo>
                  <a:lnTo>
                    <a:pt x="25999" y="2009491"/>
                  </a:lnTo>
                  <a:cubicBezTo>
                    <a:pt x="11640" y="2009491"/>
                    <a:pt x="0" y="1997851"/>
                    <a:pt x="0" y="1983492"/>
                  </a:cubicBezTo>
                  <a:lnTo>
                    <a:pt x="0" y="25999"/>
                  </a:lnTo>
                  <a:cubicBezTo>
                    <a:pt x="0" y="11640"/>
                    <a:pt x="11640" y="0"/>
                    <a:pt x="25999" y="0"/>
                  </a:cubicBezTo>
                  <a:close/>
                </a:path>
              </a:pathLst>
            </a:custGeom>
            <a:solidFill>
              <a:srgbClr val="60727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3999703" cy="20475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852049" y="895350"/>
            <a:ext cx="16247177" cy="1221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05"/>
              </a:lnSpc>
            </a:pPr>
            <a:r>
              <a:rPr lang="en-US" sz="7147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LIMITATIONS AND FUTURE WORK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707038" y="2712286"/>
            <a:ext cx="13698942" cy="60253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16981" indent="-308491" lvl="1">
              <a:lnSpc>
                <a:spcPts val="3429"/>
              </a:lnSpc>
              <a:buFont typeface="Arial"/>
              <a:buChar char="•"/>
            </a:pPr>
            <a:r>
              <a:rPr lang="en-US" sz="2857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Single researcher, single semester scope.</a:t>
            </a:r>
          </a:p>
          <a:p>
            <a:pPr algn="l" marL="1233963" indent="-411321" lvl="2">
              <a:lnSpc>
                <a:spcPts val="3429"/>
              </a:lnSpc>
              <a:buFont typeface="Arial"/>
              <a:buChar char="⚬"/>
            </a:pPr>
            <a:r>
              <a:rPr lang="en-US" sz="2857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Man</a:t>
            </a:r>
            <a:r>
              <a:rPr lang="en-US" sz="2857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ual zero-shot prompting (no API automation).</a:t>
            </a:r>
          </a:p>
          <a:p>
            <a:pPr algn="l" marL="1233963" indent="-411321" lvl="2">
              <a:lnSpc>
                <a:spcPts val="3429"/>
              </a:lnSpc>
              <a:buFont typeface="Arial"/>
              <a:buChar char="⚬"/>
            </a:pPr>
            <a:r>
              <a:rPr lang="en-US" sz="2857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Manual testing → small scale, limited sample size.</a:t>
            </a:r>
          </a:p>
          <a:p>
            <a:pPr algn="l">
              <a:lnSpc>
                <a:spcPts val="3429"/>
              </a:lnSpc>
            </a:pPr>
          </a:p>
          <a:p>
            <a:pPr algn="l" marL="616981" indent="-308491" lvl="1">
              <a:lnSpc>
                <a:spcPts val="3429"/>
              </a:lnSpc>
              <a:buFont typeface="Arial"/>
              <a:buChar char="•"/>
            </a:pPr>
            <a:r>
              <a:rPr lang="en-US" sz="2857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E</a:t>
            </a:r>
            <a:r>
              <a:rPr lang="en-US" sz="2857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valuation pa</a:t>
            </a:r>
            <a:r>
              <a:rPr lang="en-US" sz="2857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rt</a:t>
            </a:r>
            <a:r>
              <a:rPr lang="en-US" sz="2857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ly subjective (qualitative coding).</a:t>
            </a:r>
          </a:p>
          <a:p>
            <a:pPr algn="l">
              <a:lnSpc>
                <a:spcPts val="3429"/>
              </a:lnSpc>
            </a:pPr>
          </a:p>
          <a:p>
            <a:pPr algn="l" marL="616981" indent="-308491" lvl="1">
              <a:lnSpc>
                <a:spcPts val="3429"/>
              </a:lnSpc>
              <a:buFont typeface="Arial"/>
              <a:buChar char="•"/>
            </a:pPr>
            <a:r>
              <a:rPr lang="en-US" sz="2857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Possible lack of statistical significance in results.</a:t>
            </a:r>
          </a:p>
          <a:p>
            <a:pPr algn="l">
              <a:lnSpc>
                <a:spcPts val="3429"/>
              </a:lnSpc>
            </a:pPr>
          </a:p>
          <a:p>
            <a:pPr algn="l" marL="616981" indent="-308491" lvl="1">
              <a:lnSpc>
                <a:spcPts val="3429"/>
              </a:lnSpc>
              <a:buFont typeface="Arial"/>
              <a:buChar char="•"/>
            </a:pPr>
            <a:r>
              <a:rPr lang="en-US" sz="2857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Models may produce identical correct answers, reducing variation.</a:t>
            </a:r>
          </a:p>
          <a:p>
            <a:pPr algn="l">
              <a:lnSpc>
                <a:spcPts val="3429"/>
              </a:lnSpc>
            </a:pPr>
          </a:p>
          <a:p>
            <a:pPr algn="l" marL="616981" indent="-308491" lvl="1">
              <a:lnSpc>
                <a:spcPts val="3429"/>
              </a:lnSpc>
              <a:buFont typeface="Arial"/>
              <a:buChar char="•"/>
            </a:pPr>
            <a:r>
              <a:rPr lang="en-US" sz="2857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Future Work: </a:t>
            </a:r>
          </a:p>
          <a:p>
            <a:pPr algn="l" marL="1233963" indent="-411321" lvl="2">
              <a:lnSpc>
                <a:spcPts val="3429"/>
              </a:lnSpc>
              <a:buFont typeface="Arial"/>
              <a:buChar char="⚬"/>
            </a:pPr>
            <a:r>
              <a:rPr lang="en-US" sz="2857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run deeper qualitative conversation analysis </a:t>
            </a:r>
          </a:p>
          <a:p>
            <a:pPr algn="l" marL="1233963" indent="-411321" lvl="2">
              <a:lnSpc>
                <a:spcPts val="3429"/>
              </a:lnSpc>
              <a:buFont typeface="Arial"/>
              <a:buChar char="⚬"/>
            </a:pPr>
            <a:r>
              <a:rPr lang="en-US" sz="2857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Futu</a:t>
            </a:r>
            <a:r>
              <a:rPr lang="en-US" sz="2857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re: automate scoring, expand dataset, test multi-turn dialogue.</a:t>
            </a:r>
          </a:p>
          <a:p>
            <a:pPr algn="l">
              <a:lnSpc>
                <a:spcPts val="3429"/>
              </a:lnSpc>
            </a:pP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6930346" y="2669504"/>
            <a:ext cx="3460245" cy="3645852"/>
          </a:xfrm>
          <a:custGeom>
            <a:avLst/>
            <a:gdLst/>
            <a:ahLst/>
            <a:cxnLst/>
            <a:rect r="r" b="b" t="t" l="l"/>
            <a:pathLst>
              <a:path h="3645852" w="3460245">
                <a:moveTo>
                  <a:pt x="0" y="0"/>
                </a:moveTo>
                <a:lnTo>
                  <a:pt x="3460245" y="0"/>
                </a:lnTo>
                <a:lnTo>
                  <a:pt x="3460245" y="3645852"/>
                </a:lnTo>
                <a:lnTo>
                  <a:pt x="0" y="36458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82451" y="1985304"/>
            <a:ext cx="15186374" cy="7629787"/>
            <a:chOff x="0" y="0"/>
            <a:chExt cx="3999703" cy="200949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999703" cy="2009491"/>
            </a:xfrm>
            <a:custGeom>
              <a:avLst/>
              <a:gdLst/>
              <a:ahLst/>
              <a:cxnLst/>
              <a:rect r="r" b="b" t="t" l="l"/>
              <a:pathLst>
                <a:path h="2009491" w="3999703">
                  <a:moveTo>
                    <a:pt x="25999" y="0"/>
                  </a:moveTo>
                  <a:lnTo>
                    <a:pt x="3973704" y="0"/>
                  </a:lnTo>
                  <a:cubicBezTo>
                    <a:pt x="3988063" y="0"/>
                    <a:pt x="3999703" y="11640"/>
                    <a:pt x="3999703" y="25999"/>
                  </a:cubicBezTo>
                  <a:lnTo>
                    <a:pt x="3999703" y="1983492"/>
                  </a:lnTo>
                  <a:cubicBezTo>
                    <a:pt x="3999703" y="1997851"/>
                    <a:pt x="3988063" y="2009491"/>
                    <a:pt x="3973704" y="2009491"/>
                  </a:cubicBezTo>
                  <a:lnTo>
                    <a:pt x="25999" y="2009491"/>
                  </a:lnTo>
                  <a:cubicBezTo>
                    <a:pt x="11640" y="2009491"/>
                    <a:pt x="0" y="1997851"/>
                    <a:pt x="0" y="1983492"/>
                  </a:cubicBezTo>
                  <a:lnTo>
                    <a:pt x="0" y="25999"/>
                  </a:lnTo>
                  <a:cubicBezTo>
                    <a:pt x="0" y="11640"/>
                    <a:pt x="11640" y="0"/>
                    <a:pt x="25999" y="0"/>
                  </a:cubicBezTo>
                  <a:close/>
                </a:path>
              </a:pathLst>
            </a:custGeom>
            <a:solidFill>
              <a:srgbClr val="60727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3999703" cy="20475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890391" y="428824"/>
            <a:ext cx="15039955" cy="10759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751"/>
              </a:lnSpc>
            </a:pPr>
            <a:r>
              <a:rPr lang="en-US" sz="6251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CURRENT PROGRESS &amp; NEXT STEPS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707038" y="2712286"/>
            <a:ext cx="13698942" cy="6429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16981" indent="-308491" lvl="1">
              <a:lnSpc>
                <a:spcPts val="3429"/>
              </a:lnSpc>
              <a:buFont typeface="Arial"/>
              <a:buChar char="•"/>
            </a:pPr>
            <a:r>
              <a:rPr lang="en-US" b="true" sz="2857">
                <a:solidFill>
                  <a:srgbClr val="FFFFFF"/>
                </a:solidFill>
                <a:latin typeface="Nunito Bold"/>
                <a:ea typeface="Nunito Bold"/>
                <a:cs typeface="Nunito Bold"/>
                <a:sym typeface="Nunito Bold"/>
              </a:rPr>
              <a:t>Progress:</a:t>
            </a:r>
          </a:p>
          <a:p>
            <a:pPr algn="l" marL="1233962" indent="-411321" lvl="2">
              <a:lnSpc>
                <a:spcPts val="3429"/>
              </a:lnSpc>
              <a:buFont typeface="Arial"/>
              <a:buChar char="⚬"/>
            </a:pPr>
            <a:r>
              <a:rPr lang="en-US" sz="2857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Problem bank finalized.</a:t>
            </a:r>
          </a:p>
          <a:p>
            <a:pPr algn="l" marL="1233962" indent="-411321" lvl="2">
              <a:lnSpc>
                <a:spcPts val="3429"/>
              </a:lnSpc>
              <a:buFont typeface="Arial"/>
              <a:buChar char="⚬"/>
            </a:pPr>
            <a:r>
              <a:rPr lang="en-US" sz="2857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Data collection and cvs pipeline ready.</a:t>
            </a:r>
          </a:p>
          <a:p>
            <a:pPr algn="l" marL="1233962" indent="-411321" lvl="2">
              <a:lnSpc>
                <a:spcPts val="3429"/>
              </a:lnSpc>
              <a:buFont typeface="Arial"/>
              <a:buChar char="⚬"/>
            </a:pPr>
            <a:r>
              <a:rPr lang="en-US" sz="2857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Scoring scripts for readability and correctness implemented.</a:t>
            </a:r>
          </a:p>
          <a:p>
            <a:pPr algn="l">
              <a:lnSpc>
                <a:spcPts val="3429"/>
              </a:lnSpc>
            </a:pPr>
          </a:p>
          <a:p>
            <a:pPr algn="l" marL="616981" indent="-308491" lvl="1">
              <a:lnSpc>
                <a:spcPts val="3429"/>
              </a:lnSpc>
              <a:buFont typeface="Arial"/>
              <a:buChar char="•"/>
            </a:pPr>
            <a:r>
              <a:rPr lang="en-US" b="true" sz="2857">
                <a:solidFill>
                  <a:srgbClr val="FFFFFF"/>
                </a:solidFill>
                <a:latin typeface="Nunito Bold"/>
                <a:ea typeface="Nunito Bold"/>
                <a:cs typeface="Nunito Bold"/>
                <a:sym typeface="Nunito Bold"/>
              </a:rPr>
              <a:t>Next Steps:</a:t>
            </a:r>
          </a:p>
          <a:p>
            <a:pPr algn="l" marL="1233962" indent="-411321" lvl="2">
              <a:lnSpc>
                <a:spcPts val="3429"/>
              </a:lnSpc>
              <a:buFont typeface="Arial"/>
              <a:buChar char="⚬"/>
            </a:pPr>
            <a:r>
              <a:rPr lang="en-US" sz="2857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Complete model interactions.</a:t>
            </a:r>
          </a:p>
          <a:p>
            <a:pPr algn="l" marL="1233962" indent="-411321" lvl="2">
              <a:lnSpc>
                <a:spcPts val="3429"/>
              </a:lnSpc>
              <a:buFont typeface="Arial"/>
              <a:buChar char="⚬"/>
            </a:pPr>
            <a:r>
              <a:rPr lang="en-US" sz="2857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Run evaluation metrics.</a:t>
            </a:r>
          </a:p>
          <a:p>
            <a:pPr algn="l" marL="1233962" indent="-411321" lvl="2">
              <a:lnSpc>
                <a:spcPts val="3429"/>
              </a:lnSpc>
              <a:buFont typeface="Arial"/>
              <a:buChar char="⚬"/>
            </a:pPr>
            <a:r>
              <a:rPr lang="en-US" sz="2857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Write discussion connecting results to responsible AI use in education.</a:t>
            </a:r>
          </a:p>
          <a:p>
            <a:pPr algn="l">
              <a:lnSpc>
                <a:spcPts val="3429"/>
              </a:lnSpc>
            </a:pPr>
          </a:p>
          <a:p>
            <a:pPr algn="l" marL="616981" indent="-308491" lvl="1">
              <a:lnSpc>
                <a:spcPts val="3429"/>
              </a:lnSpc>
              <a:buFont typeface="Arial"/>
              <a:buChar char="•"/>
            </a:pPr>
            <a:r>
              <a:rPr lang="en-US" b="true" sz="2857">
                <a:solidFill>
                  <a:srgbClr val="FFFFFF"/>
                </a:solidFill>
                <a:latin typeface="Nunito Bold"/>
                <a:ea typeface="Nunito Bold"/>
                <a:cs typeface="Nunito Bold"/>
                <a:sym typeface="Nunito Bold"/>
              </a:rPr>
              <a:t>Summary:</a:t>
            </a:r>
          </a:p>
          <a:p>
            <a:pPr algn="l" marL="1233962" indent="-411321" lvl="2">
              <a:lnSpc>
                <a:spcPts val="3429"/>
              </a:lnSpc>
              <a:buFont typeface="Arial"/>
              <a:buChar char="⚬"/>
            </a:pPr>
            <a:r>
              <a:rPr lang="en-US" sz="2857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By treating LLM prompting as a data integrity challenge, this project bridges education and data management. It aims to help students use LLMs responsibly by understanding how input quality affects learning outcomes.</a:t>
            </a:r>
          </a:p>
          <a:p>
            <a:pPr algn="l">
              <a:lnSpc>
                <a:spcPts val="3429"/>
              </a:lnSpc>
            </a:pP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6930346" y="2669504"/>
            <a:ext cx="3460245" cy="3645852"/>
          </a:xfrm>
          <a:custGeom>
            <a:avLst/>
            <a:gdLst/>
            <a:ahLst/>
            <a:cxnLst/>
            <a:rect r="r" b="b" t="t" l="l"/>
            <a:pathLst>
              <a:path h="3645852" w="3460245">
                <a:moveTo>
                  <a:pt x="0" y="0"/>
                </a:moveTo>
                <a:lnTo>
                  <a:pt x="3460245" y="0"/>
                </a:lnTo>
                <a:lnTo>
                  <a:pt x="3460245" y="3645852"/>
                </a:lnTo>
                <a:lnTo>
                  <a:pt x="0" y="36458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319422">
            <a:off x="-3245873" y="3038236"/>
            <a:ext cx="10599889" cy="3994161"/>
          </a:xfrm>
          <a:custGeom>
            <a:avLst/>
            <a:gdLst/>
            <a:ahLst/>
            <a:cxnLst/>
            <a:rect r="r" b="b" t="t" l="l"/>
            <a:pathLst>
              <a:path h="3994161" w="10599889">
                <a:moveTo>
                  <a:pt x="0" y="0"/>
                </a:moveTo>
                <a:lnTo>
                  <a:pt x="10599889" y="0"/>
                </a:lnTo>
                <a:lnTo>
                  <a:pt x="10599889" y="3994161"/>
                </a:lnTo>
                <a:lnTo>
                  <a:pt x="0" y="399416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860781" y="2645453"/>
            <a:ext cx="8495749" cy="58424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24"/>
              </a:lnSpc>
            </a:pPr>
            <a:r>
              <a:rPr lang="en-US" sz="16731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THANK YOU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6431032" y="-127085"/>
            <a:ext cx="4899588" cy="5162401"/>
          </a:xfrm>
          <a:custGeom>
            <a:avLst/>
            <a:gdLst/>
            <a:ahLst/>
            <a:cxnLst/>
            <a:rect r="r" b="b" t="t" l="l"/>
            <a:pathLst>
              <a:path h="5162401" w="4899588">
                <a:moveTo>
                  <a:pt x="0" y="0"/>
                </a:moveTo>
                <a:lnTo>
                  <a:pt x="4899588" y="0"/>
                </a:lnTo>
                <a:lnTo>
                  <a:pt x="4899588" y="5162402"/>
                </a:lnTo>
                <a:lnTo>
                  <a:pt x="0" y="516240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8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725024" y="4095899"/>
            <a:ext cx="4899588" cy="5162401"/>
          </a:xfrm>
          <a:custGeom>
            <a:avLst/>
            <a:gdLst/>
            <a:ahLst/>
            <a:cxnLst/>
            <a:rect r="r" b="b" t="t" l="l"/>
            <a:pathLst>
              <a:path h="5162401" w="4899588">
                <a:moveTo>
                  <a:pt x="0" y="0"/>
                </a:moveTo>
                <a:lnTo>
                  <a:pt x="4899589" y="0"/>
                </a:lnTo>
                <a:lnTo>
                  <a:pt x="4899589" y="5162401"/>
                </a:lnTo>
                <a:lnTo>
                  <a:pt x="0" y="516240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8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DAG1WRH7vJA</dc:identifier>
  <dcterms:modified xsi:type="dcterms:W3CDTF">2011-08-01T06:04:30Z</dcterms:modified>
  <cp:revision>1</cp:revision>
  <dc:title>DB Midterm Presentation</dc:title>
</cp:coreProperties>
</file>